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30306C4C-32CC-923E-B35C-3F822F20998B}">
          <p14:sldIdLst>
            <p14:sldId id="256"/>
          </p14:sldIdLst>
        </p14:section>
        <p14:section name="課題" id="{91E45113-E35A-A925-3650-09D270FE874A}">
          <p14:sldIdLst>
            <p14:sldId id="257"/>
          </p14:sldIdLst>
        </p14:section>
        <p14:section name="解決策" id="{8DFF8D8A-70CC-D56F-37DE-33ECD9B5E09D}">
          <p14:sldIdLst>
            <p14:sldId id="258"/>
            <p14:sldId id="259"/>
            <p14:sldId id="260"/>
          </p14:sldIdLst>
        </p14:section>
        <p14:section name="実演" id="{1B0FE51C-D1EF-7F18-BBD5-B69EF2AEF7EE}">
          <p14:sldIdLst>
            <p14:sldId id="261"/>
          </p14:sldIdLst>
        </p14:section>
        <p14:section name="振り返り" id="{AC1260F1-C0CF-5873-F429-5201E06CA730}">
          <p14:sldIdLst>
            <p14:sldId id="262"/>
            <p14:sldId id="263"/>
          </p14:sldIdLst>
        </p14:section>
        <p14:section name="補足" id="{7522CE90-D305-8199-F996-F98C2CAEFB0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30"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0" i="0" u="none" strike="noStrike">
                <a:solidFill>
                  <a:srgbClr val="1B2A38"/>
                </a:solidFill>
                <a:latin typeface="+mn-lt"/>
              </a:defRPr>
            </a:pPr>
            <a:r>
              <a:rPr lang="ja-JP" altLang="en-US" sz="1400" b="0" i="0" u="none" strike="noStrike">
                <a:solidFill>
                  <a:srgbClr val="1B2A38"/>
                </a:solidFill>
                <a:latin typeface="+mn-lt"/>
              </a:rPr>
              <a:t>年間の検索＋提案書作成時間（時間）</a:t>
            </a:r>
          </a:p>
        </c:rich>
      </c:tx>
      <c:overlay val="0"/>
    </c:title>
    <c:autoTitleDeleted val="0"/>
    <c:plotArea>
      <c:layout/>
      <c:barChart>
        <c:barDir val="col"/>
        <c:grouping val="clustered"/>
        <c:varyColors val="0"/>
        <c:ser>
          <c:idx val="0"/>
          <c:order val="0"/>
          <c:tx>
            <c:strRef>
              <c:f>Sheet1!$B$1</c:f>
              <c:strCache>
                <c:ptCount val="1"/>
                <c:pt idx="0">
                  <c:v>年間時間</c:v>
                </c:pt>
              </c:strCache>
            </c:strRef>
          </c:tx>
          <c:spPr>
            <a:solidFill>
              <a:srgbClr val="6F8190"/>
            </a:solidFill>
            <a:effectLst/>
          </c:spPr>
          <c:invertIfNegative val="0"/>
          <c:dPt>
            <c:idx val="0"/>
            <c:invertIfNegative val="0"/>
            <c:bubble3D val="0"/>
            <c:spPr>
              <a:solidFill>
                <a:srgbClr val="6F8190"/>
              </a:solidFill>
              <a:effectLst/>
            </c:spPr>
            <c:extLst>
              <c:ext xmlns:c16="http://schemas.microsoft.com/office/drawing/2014/chart" uri="{C3380CC4-5D6E-409C-BE32-E72D297353CC}">
                <c16:uniqueId val="{00000001-6BF4-4666-A6D3-B8FAE0A120B1}"/>
              </c:ext>
            </c:extLst>
          </c:dPt>
          <c:dPt>
            <c:idx val="1"/>
            <c:invertIfNegative val="0"/>
            <c:bubble3D val="0"/>
            <c:spPr>
              <a:solidFill>
                <a:srgbClr val="E8731A"/>
              </a:solidFill>
              <a:effectLst/>
            </c:spPr>
            <c:extLst>
              <c:ext xmlns:c16="http://schemas.microsoft.com/office/drawing/2014/chart" uri="{C3380CC4-5D6E-409C-BE32-E72D297353CC}">
                <c16:uniqueId val="{00000003-6BF4-4666-A6D3-B8FAE0A120B1}"/>
              </c:ext>
            </c:extLst>
          </c:dPt>
          <c:dLbls>
            <c:numFmt formatCode="#,##0" sourceLinked="0"/>
            <c:spPr>
              <a:noFill/>
              <a:ln>
                <a:noFill/>
              </a:ln>
              <a:effectLst/>
            </c:spPr>
            <c:txPr>
              <a:bodyPr/>
              <a:lstStyle/>
              <a:p>
                <a:pPr>
                  <a:defRPr sz="1400" b="0" i="0" u="none" strike="noStrike">
                    <a:solidFill>
                      <a:srgbClr val="1B2A38"/>
                    </a:solidFill>
                    <a:latin typeface="+mn-lt"/>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現状（15時間/件）</c:v>
                </c:pt>
                <c:pt idx="1">
                  <c:v>導入後（8時間/件）</c:v>
                </c:pt>
              </c:strCache>
            </c:strRef>
          </c:cat>
          <c:val>
            <c:numRef>
              <c:f>Sheet1!$B$2:$B$3</c:f>
              <c:numCache>
                <c:formatCode>General</c:formatCode>
                <c:ptCount val="2"/>
                <c:pt idx="0">
                  <c:v>135000</c:v>
                </c:pt>
                <c:pt idx="1">
                  <c:v>72000</c:v>
                </c:pt>
              </c:numCache>
            </c:numRef>
          </c:val>
          <c:extLst>
            <c:ext xmlns:c16="http://schemas.microsoft.com/office/drawing/2014/chart" uri="{C3380CC4-5D6E-409C-BE32-E72D297353CC}">
              <c16:uniqueId val="{00000004-6BF4-4666-A6D3-B8FAE0A120B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38"/>
                </a:solidFill>
                <a:latin typeface="+mn-lt"/>
              </a:defRPr>
            </a:pPr>
            <a:endParaRPr lang="en-US"/>
          </a:p>
        </c:txPr>
        <c:crossAx val="2094734552"/>
        <c:crosses val="autoZero"/>
        <c:auto val="1"/>
        <c:lblAlgn val="ctr"/>
        <c:lblOffset val="100"/>
        <c:noMultiLvlLbl val="1"/>
      </c:catAx>
      <c:valAx>
        <c:axId val="2094734552"/>
        <c:scaling>
          <c:orientation val="minMax"/>
          <c:max val="160000"/>
        </c:scaling>
        <c:delete val="0"/>
        <c:axPos val="l"/>
        <c:majorGridlines>
          <c:spPr>
            <a:ln w="6350" cap="flat">
              <a:solidFill>
                <a:srgbClr val="D5DC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F819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76585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【10秒】TechO Searchは、過去の受注・失注の蓄積を提案作成の場面で使える形にするアプリです。流れは『似た案件を見つける→勝因・敗因を知る→提案の材料を集める』の3ステップです。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秒】誰の何を解決するか。対象は提案書を作る営業担当とマネージャー約300名。1件あたり検索＋提案書作成に約15時間かけています。市場は伸びているのに、提案の質が下がり失注が増え、挽回しようと資料作成に時間をかけても中身が変わらない悪循環です。5 Whysで掘ると、真因は3つ。①過去の成功・失敗や最新の規制・補助金を探せない、②失注理由が記録ベースで真因が分からない、③項目を増やすと入力されない。会社には蓄積があるのに使えていないことが本質で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【40秒】作ったのは『TechO Search』。コア機能は3つで、似た案件を見つける、勝因・敗因を知る、提案の材料を集める。営業が提案書をゼロから作るのではなく、材料が揃った状態から考えられるようにします。期待効果は、提案作成1件15時間から8時間への効率化と、過去事例の引用・外部情報の紐づけによる質の向上です。失注率の低下は仮説で、今後の検証対象と位置づけ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秒】入力は、蓄積側が日報・失注記録（選択式8項目、必須5項目）と外部API、利用時は営業が入れる案件条件。処理は、原文のままSQLiteに保存し、TF-IDF・項目一致・全文検索の3つの信号で類似度を出し、条件を辞書ルールで検索語に変えて補助金・法令を照合します。出力は、受注・失注の並列表示、違い、補助金・法令。すべて原文や出典に遡れます。
※音声入力・SFA連携・RSS/業界紙は最終形の範囲で、MVPには含まれません。</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秒】課題→機能→技術の対応表です。ここで強調したいのは『AIを使わない判断』。営業が結果を信じるには根拠を原文で確認できることが必要で、補助金・法令は誤情報が許されません。数百〜数千件の規模ならTF-IDFで十分です。弱点は同義語・言い換えに弱いこと。選択式の項目一致と全文検索で補い、検索ログのゼロ件率で改善していきます。AIは、大量の文書を分析・要約する最終形で使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【約3分：実機デモ】
1) 類似案件検索タブで、課題『人手不足・省人化』、機種『横形マシニングセンタ』を選んで検索。A精工（受注・補助金/資金計画）とB工業（失注・価格）が上位に並ぶ。
2) 『受注と失注はどこが違ったか』の表と、原文を見る→原本リンクを見せる。
3) 提案材料タブ：辞書ルール→外部情報取得→補助金のスコア内訳→適格性チェック→法令（追い風/要確認）。
※事前確認：デモ補助金の締切は2026年6〜12月。一部は『募集終了』表示になる。APIが通らない場合はデモデータで進行。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秒】最終形のアーキテクチャから、MVPで何を変え、何を変えなかったか。変えた点は4つ：①似た案件だけでなく受注と失注を並べた、②要因分析のAI要約をやめ、入力済みカテゴリと原文リンクにした、③補助金・法令のAI照合を辞書ルール＋公式APIにした、④基盤を軽量な構成にした。変えなかったのは、3ステップの流れ、原文保持、選択式入力。5 Whysの真因に直結するためです。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秒】標準シナリオ（15→8時間、年30件、300名）で年間約63,000時間、約31人分の工数削減の見込みです。ただし現時点はデモデータでの検証で、失注率の低下は仮説です。次の一手は、実データでの検証、KPIによる効果測定、SSO等の安全性対応、そして最終形でのAI追加です。限界も隠さず示した上で、段階的に進め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バックアップ。質疑応答用。監査の観点：①成立しているか／②なぜそう作ったか／③チーム全員が理解しているか。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5486400" cy="274320"/>
          </a:xfrm>
          <a:prstGeom prst="rect">
            <a:avLst/>
          </a:prstGeom>
          <a:noFill/>
          <a:ln/>
        </p:spPr>
        <p:txBody>
          <a:bodyPr wrap="square" lIns="0" tIns="0" rIns="0" bIns="0" rtlCol="0" anchor="ctr"/>
          <a:lstStyle/>
          <a:p>
            <a:pPr marL="0" indent="0">
              <a:buNone/>
            </a:pPr>
            <a:r>
              <a:rPr lang="en-US" sz="1100" dirty="0">
                <a:solidFill>
                  <a:schemeClr val="accent5"/>
                </a:solidFill>
              </a:rPr>
              <a:t>TechO Search｜特別監査会</a:t>
            </a:r>
            <a:endParaRPr lang="en-US" sz="1100" dirty="0"/>
          </a:p>
        </p:txBody>
      </p:sp>
      <p:sp>
        <p:nvSpPr>
          <p:cNvPr id="3" name="Text 1"/>
          <p:cNvSpPr>
            <a:spLocks noGrp="1"/>
          </p:cNvSpPr>
          <p:nvPr>
            <p:ph type="title" idx="101" hasCustomPrompt="1"/>
          </p:nvPr>
        </p:nvSpPr>
        <p:spPr>
          <a:xfrm>
            <a:off x="548640" y="365760"/>
            <a:ext cx="11094415" cy="77724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B2A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txBox="1"/>
          <p:nvPr/>
        </p:nvSpPr>
        <p:spPr>
          <a:xfrm>
            <a:off x="548640" y="6419088"/>
            <a:ext cx="5486400" cy="274320"/>
          </a:xfrm>
          <a:prstGeom prst="rect">
            <a:avLst/>
          </a:prstGeom>
          <a:noFill/>
          <a:ln/>
        </p:spPr>
        <p:txBody>
          <a:bodyPr wrap="square" lIns="0" tIns="0" rIns="0" bIns="0" rtlCol="0" anchor="ctr"/>
          <a:lstStyle/>
          <a:p>
            <a:pPr marL="0" indent="0">
              <a:buNone/>
            </a:pPr>
            <a:r>
              <a:rPr lang="en-US" sz="1100" dirty="0">
                <a:solidFill>
                  <a:schemeClr val="accent5"/>
                </a:solidFill>
              </a:rPr>
              <a:t>TechO Search｜特別監査会</a:t>
            </a:r>
            <a:endParaRPr lang="en-US" sz="1100" dirty="0"/>
          </a:p>
        </p:txBody>
      </p:sp>
      <p:sp>
        <p:nvSpPr>
          <p:cNvPr id="4" name="Text 2"/>
          <p:cNvSpPr>
            <a:spLocks noGrp="1"/>
          </p:cNvSpPr>
          <p:nvPr>
            <p:ph type="title" idx="102" hasCustomPrompt="1"/>
          </p:nvPr>
        </p:nvSpPr>
        <p:spPr>
          <a:xfrm>
            <a:off x="548640" y="365760"/>
            <a:ext cx="11094415" cy="77724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914400"/>
            <a:ext cx="7315200" cy="365760"/>
          </a:xfrm>
          <a:prstGeom prst="rect">
            <a:avLst/>
          </a:prstGeom>
          <a:noFill/>
          <a:ln/>
        </p:spPr>
        <p:txBody>
          <a:bodyPr wrap="square" lIns="0" tIns="0" rIns="0" bIns="0" rtlCol="0" anchor="t"/>
          <a:lstStyle/>
          <a:p>
            <a:pPr marL="0" indent="0">
              <a:buNone/>
            </a:pPr>
            <a:r>
              <a:rPr lang="en-US" sz="1600" b="1" dirty="0" err="1">
                <a:solidFill>
                  <a:schemeClr val="accent1"/>
                </a:solidFill>
              </a:rPr>
              <a:t>特別監査会報告</a:t>
            </a:r>
            <a:endParaRPr lang="en-US" sz="1600" dirty="0"/>
          </a:p>
        </p:txBody>
      </p:sp>
      <p:sp>
        <p:nvSpPr>
          <p:cNvPr id="3" name="Text 1"/>
          <p:cNvSpPr txBox="1"/>
          <p:nvPr/>
        </p:nvSpPr>
        <p:spPr>
          <a:xfrm>
            <a:off x="822960" y="1463040"/>
            <a:ext cx="10058400" cy="1005840"/>
          </a:xfrm>
          <a:prstGeom prst="rect">
            <a:avLst/>
          </a:prstGeom>
          <a:noFill/>
          <a:ln/>
        </p:spPr>
        <p:txBody>
          <a:bodyPr wrap="square" lIns="0" tIns="0" rIns="0" bIns="0" rtlCol="0" anchor="t"/>
          <a:lstStyle/>
          <a:p>
            <a:pPr marL="0" indent="0">
              <a:buNone/>
            </a:pPr>
            <a:r>
              <a:rPr lang="en-US" sz="6000" b="1" dirty="0">
                <a:solidFill>
                  <a:schemeClr val="bg1"/>
                </a:solidFill>
              </a:rPr>
              <a:t>TechO Search</a:t>
            </a:r>
            <a:endParaRPr lang="en-US" sz="6000" dirty="0"/>
          </a:p>
        </p:txBody>
      </p:sp>
      <p:sp>
        <p:nvSpPr>
          <p:cNvPr id="4" name="Text 2"/>
          <p:cNvSpPr txBox="1"/>
          <p:nvPr/>
        </p:nvSpPr>
        <p:spPr>
          <a:xfrm>
            <a:off x="822960" y="2606040"/>
            <a:ext cx="10515600" cy="548640"/>
          </a:xfrm>
          <a:prstGeom prst="rect">
            <a:avLst/>
          </a:prstGeom>
          <a:noFill/>
          <a:ln/>
        </p:spPr>
        <p:txBody>
          <a:bodyPr wrap="square" lIns="0" tIns="0" rIns="0" bIns="0" rtlCol="0" anchor="t"/>
          <a:lstStyle/>
          <a:p>
            <a:pPr marL="0" indent="0">
              <a:buNone/>
            </a:pPr>
            <a:r>
              <a:rPr lang="en-US" sz="2400" dirty="0">
                <a:solidFill>
                  <a:schemeClr val="bg1"/>
                </a:solidFill>
              </a:rPr>
              <a:t>過去の受注・失注の蓄積を、次の提案で使える武器にする</a:t>
            </a:r>
            <a:endParaRPr lang="en-US" sz="2400" dirty="0"/>
          </a:p>
        </p:txBody>
      </p:sp>
      <p:sp>
        <p:nvSpPr>
          <p:cNvPr id="5" name="Text 3"/>
          <p:cNvSpPr txBox="1"/>
          <p:nvPr/>
        </p:nvSpPr>
        <p:spPr>
          <a:xfrm>
            <a:off x="822960" y="3200400"/>
            <a:ext cx="10515600" cy="365760"/>
          </a:xfrm>
          <a:prstGeom prst="rect">
            <a:avLst/>
          </a:prstGeom>
          <a:noFill/>
          <a:ln/>
        </p:spPr>
        <p:txBody>
          <a:bodyPr wrap="square" lIns="0" tIns="0" rIns="0" bIns="0" rtlCol="0" anchor="t"/>
          <a:lstStyle/>
          <a:p>
            <a:pPr marL="0" indent="0">
              <a:buNone/>
            </a:pPr>
            <a:r>
              <a:rPr lang="en-US" sz="1600" dirty="0">
                <a:solidFill>
                  <a:schemeClr val="accent5"/>
                </a:solidFill>
              </a:rPr>
              <a:t>機械製造業の営業担当・マネージャーのための提案作成支援アプリ</a:t>
            </a:r>
            <a:endParaRPr lang="en-US" sz="1600" dirty="0"/>
          </a:p>
        </p:txBody>
      </p:sp>
      <p:sp>
        <p:nvSpPr>
          <p:cNvPr id="6" name="flow-1"/>
          <p:cNvSpPr/>
          <p:nvPr/>
        </p:nvSpPr>
        <p:spPr>
          <a:xfrm>
            <a:off x="822960" y="4480560"/>
            <a:ext cx="3200400" cy="822960"/>
          </a:xfrm>
          <a:prstGeom prst="roundRect">
            <a:avLst>
              <a:gd name="adj" fmla="val 8889"/>
            </a:avLst>
          </a:prstGeom>
          <a:solidFill>
            <a:schemeClr val="tx2"/>
          </a:solidFill>
          <a:ln w="12700">
            <a:solidFill>
              <a:schemeClr val="tx2"/>
            </a:solidFill>
            <a:prstDash val="solid"/>
          </a:ln>
        </p:spPr>
      </p:sp>
      <p:sp>
        <p:nvSpPr>
          <p:cNvPr id="7" name="num-1"/>
          <p:cNvSpPr/>
          <p:nvPr/>
        </p:nvSpPr>
        <p:spPr>
          <a:xfrm>
            <a:off x="1005840" y="466344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1005840" y="46634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9" name="Text 7"/>
          <p:cNvSpPr txBox="1"/>
          <p:nvPr/>
        </p:nvSpPr>
        <p:spPr>
          <a:xfrm>
            <a:off x="1645920" y="4480560"/>
            <a:ext cx="2286000" cy="822960"/>
          </a:xfrm>
          <a:prstGeom prst="rect">
            <a:avLst/>
          </a:prstGeom>
          <a:noFill/>
          <a:ln/>
        </p:spPr>
        <p:txBody>
          <a:bodyPr wrap="square" lIns="0" tIns="0" rIns="0" bIns="0" rtlCol="0" anchor="ctr"/>
          <a:lstStyle/>
          <a:p>
            <a:pPr marL="0" indent="0">
              <a:buNone/>
            </a:pPr>
            <a:r>
              <a:rPr lang="en-US" sz="1600" b="1" dirty="0">
                <a:solidFill>
                  <a:schemeClr val="bg1"/>
                </a:solidFill>
              </a:rPr>
              <a:t>似た案件を見つける</a:t>
            </a:r>
            <a:endParaRPr lang="en-US" sz="1600" dirty="0"/>
          </a:p>
        </p:txBody>
      </p:sp>
      <p:sp>
        <p:nvSpPr>
          <p:cNvPr id="10" name="Text 8"/>
          <p:cNvSpPr txBox="1"/>
          <p:nvPr/>
        </p:nvSpPr>
        <p:spPr>
          <a:xfrm>
            <a:off x="4041648" y="4663440"/>
            <a:ext cx="365760" cy="457200"/>
          </a:xfrm>
          <a:prstGeom prst="rect">
            <a:avLst/>
          </a:prstGeom>
          <a:noFill/>
          <a:ln/>
        </p:spPr>
        <p:txBody>
          <a:bodyPr wrap="square" lIns="0" tIns="0" rIns="0" bIns="0" rtlCol="0" anchor="ctr"/>
          <a:lstStyle/>
          <a:p>
            <a:pPr marL="0" indent="0" algn="ctr">
              <a:buNone/>
            </a:pPr>
            <a:r>
              <a:rPr lang="en-US" sz="1600" dirty="0">
                <a:solidFill>
                  <a:schemeClr val="accent1"/>
                </a:solidFill>
              </a:rPr>
              <a:t>▶</a:t>
            </a:r>
            <a:endParaRPr lang="en-US" sz="1600" dirty="0"/>
          </a:p>
        </p:txBody>
      </p:sp>
      <p:sp>
        <p:nvSpPr>
          <p:cNvPr id="11" name="flow-2"/>
          <p:cNvSpPr/>
          <p:nvPr/>
        </p:nvSpPr>
        <p:spPr>
          <a:xfrm>
            <a:off x="4434840" y="4480560"/>
            <a:ext cx="3200400" cy="822960"/>
          </a:xfrm>
          <a:prstGeom prst="roundRect">
            <a:avLst>
              <a:gd name="adj" fmla="val 8889"/>
            </a:avLst>
          </a:prstGeom>
          <a:solidFill>
            <a:schemeClr val="tx2"/>
          </a:solidFill>
          <a:ln w="12700">
            <a:solidFill>
              <a:schemeClr val="tx2"/>
            </a:solidFill>
            <a:prstDash val="solid"/>
          </a:ln>
        </p:spPr>
      </p:sp>
      <p:sp>
        <p:nvSpPr>
          <p:cNvPr id="12" name="num-2"/>
          <p:cNvSpPr/>
          <p:nvPr/>
        </p:nvSpPr>
        <p:spPr>
          <a:xfrm>
            <a:off x="4617720" y="466344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617720" y="46634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Text 12"/>
          <p:cNvSpPr txBox="1"/>
          <p:nvPr/>
        </p:nvSpPr>
        <p:spPr>
          <a:xfrm>
            <a:off x="5257800" y="4480560"/>
            <a:ext cx="2286000" cy="822960"/>
          </a:xfrm>
          <a:prstGeom prst="rect">
            <a:avLst/>
          </a:prstGeom>
          <a:noFill/>
          <a:ln/>
        </p:spPr>
        <p:txBody>
          <a:bodyPr wrap="square" lIns="0" tIns="0" rIns="0" bIns="0" rtlCol="0" anchor="ctr"/>
          <a:lstStyle/>
          <a:p>
            <a:pPr marL="0" indent="0">
              <a:buNone/>
            </a:pPr>
            <a:r>
              <a:rPr lang="en-US" sz="1600" b="1" dirty="0">
                <a:solidFill>
                  <a:schemeClr val="bg1"/>
                </a:solidFill>
              </a:rPr>
              <a:t>勝因・敗因を知る</a:t>
            </a:r>
            <a:endParaRPr lang="en-US" sz="1600" dirty="0"/>
          </a:p>
        </p:txBody>
      </p:sp>
      <p:sp>
        <p:nvSpPr>
          <p:cNvPr id="15" name="Text 13"/>
          <p:cNvSpPr txBox="1"/>
          <p:nvPr/>
        </p:nvSpPr>
        <p:spPr>
          <a:xfrm>
            <a:off x="7653528" y="4663440"/>
            <a:ext cx="365760" cy="457200"/>
          </a:xfrm>
          <a:prstGeom prst="rect">
            <a:avLst/>
          </a:prstGeom>
          <a:noFill/>
          <a:ln/>
        </p:spPr>
        <p:txBody>
          <a:bodyPr wrap="square" lIns="0" tIns="0" rIns="0" bIns="0" rtlCol="0" anchor="ctr"/>
          <a:lstStyle/>
          <a:p>
            <a:pPr marL="0" indent="0" algn="ctr">
              <a:buNone/>
            </a:pPr>
            <a:r>
              <a:rPr lang="en-US" sz="1600" dirty="0">
                <a:solidFill>
                  <a:schemeClr val="accent1"/>
                </a:solidFill>
              </a:rPr>
              <a:t>▶</a:t>
            </a:r>
            <a:endParaRPr lang="en-US" sz="1600" dirty="0"/>
          </a:p>
        </p:txBody>
      </p:sp>
      <p:sp>
        <p:nvSpPr>
          <p:cNvPr id="16" name="flow-3"/>
          <p:cNvSpPr/>
          <p:nvPr/>
        </p:nvSpPr>
        <p:spPr>
          <a:xfrm>
            <a:off x="8046720" y="4480560"/>
            <a:ext cx="3200400" cy="822960"/>
          </a:xfrm>
          <a:prstGeom prst="roundRect">
            <a:avLst>
              <a:gd name="adj" fmla="val 8889"/>
            </a:avLst>
          </a:prstGeom>
          <a:solidFill>
            <a:schemeClr val="tx2"/>
          </a:solidFill>
          <a:ln w="12700">
            <a:solidFill>
              <a:schemeClr val="tx2"/>
            </a:solidFill>
            <a:prstDash val="solid"/>
          </a:ln>
        </p:spPr>
      </p:sp>
      <p:sp>
        <p:nvSpPr>
          <p:cNvPr id="17" name="num-3"/>
          <p:cNvSpPr/>
          <p:nvPr/>
        </p:nvSpPr>
        <p:spPr>
          <a:xfrm>
            <a:off x="8229600" y="4663440"/>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8229600" y="46634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9" name="Text 17"/>
          <p:cNvSpPr txBox="1"/>
          <p:nvPr/>
        </p:nvSpPr>
        <p:spPr>
          <a:xfrm>
            <a:off x="8869680" y="4480560"/>
            <a:ext cx="2286000" cy="822960"/>
          </a:xfrm>
          <a:prstGeom prst="rect">
            <a:avLst/>
          </a:prstGeom>
          <a:noFill/>
          <a:ln/>
        </p:spPr>
        <p:txBody>
          <a:bodyPr wrap="square" lIns="0" tIns="0" rIns="0" bIns="0" rtlCol="0" anchor="ctr"/>
          <a:lstStyle/>
          <a:p>
            <a:pPr marL="0" indent="0">
              <a:buNone/>
            </a:pPr>
            <a:r>
              <a:rPr lang="en-US" sz="1600" b="1" dirty="0">
                <a:solidFill>
                  <a:schemeClr val="bg1"/>
                </a:solidFill>
              </a:rPr>
              <a:t>提案の材料を集める</a:t>
            </a:r>
            <a:endParaRPr lang="en-US" sz="1600" dirty="0"/>
          </a:p>
        </p:txBody>
      </p:sp>
      <p:sp>
        <p:nvSpPr>
          <p:cNvPr id="20" name="Text 18"/>
          <p:cNvSpPr txBox="1"/>
          <p:nvPr/>
        </p:nvSpPr>
        <p:spPr>
          <a:xfrm>
            <a:off x="822960" y="6126480"/>
            <a:ext cx="5486400" cy="320040"/>
          </a:xfrm>
          <a:prstGeom prst="rect">
            <a:avLst/>
          </a:prstGeom>
          <a:noFill/>
          <a:ln/>
        </p:spPr>
        <p:txBody>
          <a:bodyPr wrap="square" lIns="0" tIns="0" rIns="0" bIns="0" rtlCol="0" anchor="t"/>
          <a:lstStyle/>
          <a:p>
            <a:pPr marL="0" indent="0">
              <a:buNone/>
            </a:pPr>
            <a:r>
              <a:rPr lang="en-US" sz="1400" dirty="0">
                <a:solidFill>
                  <a:schemeClr val="accent5"/>
                </a:solidFill>
              </a:rPr>
              <a:t>PROJECT ZERO｜2026年10月</a:t>
            </a:r>
            <a:endParaRPr lang="en-US" sz="1400" dirty="0"/>
          </a:p>
        </p:txBody>
      </p:sp>
      <p:pic>
        <p:nvPicPr>
          <p:cNvPr id="22" name="図 21">
            <a:extLst>
              <a:ext uri="{FF2B5EF4-FFF2-40B4-BE49-F238E27FC236}">
                <a16:creationId xmlns:a16="http://schemas.microsoft.com/office/drawing/2014/main" id="{69A499E8-CAE7-4CDB-3DFF-7D469821D27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836408" y="-387125"/>
            <a:ext cx="5209900" cy="39990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tx1"/>
                </a:solidFill>
              </a:rPr>
              <a:t>市場は伸びているのに、提案の質が下がり失注が増えている</a:t>
            </a:r>
            <a:endParaRPr lang="en-US" sz="2800" dirty="0"/>
          </a:p>
        </p:txBody>
      </p:sp>
      <p:sp>
        <p:nvSpPr>
          <p:cNvPr id="3" name="Text 1"/>
          <p:cNvSpPr txBox="1"/>
          <p:nvPr/>
        </p:nvSpPr>
        <p:spPr>
          <a:xfrm>
            <a:off x="548640" y="1188720"/>
            <a:ext cx="11094415" cy="548640"/>
          </a:xfrm>
          <a:prstGeom prst="rect">
            <a:avLst/>
          </a:prstGeom>
          <a:noFill/>
          <a:ln/>
        </p:spPr>
        <p:txBody>
          <a:bodyPr wrap="square" lIns="0" tIns="0" rIns="0" bIns="0" rtlCol="0" anchor="t"/>
          <a:lstStyle/>
          <a:p>
            <a:pPr marL="0" indent="0">
              <a:buNone/>
            </a:pPr>
            <a:r>
              <a:rPr lang="en-US" sz="1500" dirty="0">
                <a:solidFill>
                  <a:schemeClr val="tx2"/>
                </a:solidFill>
              </a:rPr>
              <a:t>工作機械市場は国内外で回復・拡大傾向（JMTBA）、</a:t>
            </a:r>
            <a:r>
              <a:rPr lang="en-US" sz="1500" dirty="0" err="1">
                <a:solidFill>
                  <a:schemeClr val="tx2"/>
                </a:solidFill>
              </a:rPr>
              <a:t>工場の自動化は国策としても後押しされている</a:t>
            </a:r>
            <a:r>
              <a:rPr lang="en-US" sz="1500" dirty="0">
                <a:solidFill>
                  <a:schemeClr val="tx2"/>
                </a:solidFill>
              </a:rPr>
              <a:t>。</a:t>
            </a:r>
          </a:p>
          <a:p>
            <a:pPr marL="0" indent="0">
              <a:buNone/>
            </a:pPr>
            <a:r>
              <a:rPr lang="en-US" sz="1500" dirty="0" err="1">
                <a:solidFill>
                  <a:schemeClr val="tx2"/>
                </a:solidFill>
              </a:rPr>
              <a:t>それでも当社はその勢いに乗れていない</a:t>
            </a:r>
            <a:r>
              <a:rPr lang="en-US" sz="1500" dirty="0">
                <a:solidFill>
                  <a:schemeClr val="tx2"/>
                </a:solidFill>
              </a:rPr>
              <a:t>。</a:t>
            </a:r>
            <a:endParaRPr lang="en-US" sz="1500" dirty="0"/>
          </a:p>
        </p:txBody>
      </p:sp>
      <p:sp>
        <p:nvSpPr>
          <p:cNvPr id="4" name="loop-panel"/>
          <p:cNvSpPr/>
          <p:nvPr/>
        </p:nvSpPr>
        <p:spPr>
          <a:xfrm>
            <a:off x="548640" y="1920240"/>
            <a:ext cx="5852160" cy="3246120"/>
          </a:xfrm>
          <a:prstGeom prst="roundRect">
            <a:avLst>
              <a:gd name="adj" fmla="val 2254"/>
            </a:avLst>
          </a:prstGeom>
          <a:solidFill>
            <a:schemeClr val="bg2"/>
          </a:solidFill>
          <a:ln w="12700">
            <a:solidFill>
              <a:schemeClr val="bg2"/>
            </a:solidFill>
            <a:prstDash val="solid"/>
          </a:ln>
        </p:spPr>
      </p:sp>
      <p:sp>
        <p:nvSpPr>
          <p:cNvPr id="5" name="loop-node-1"/>
          <p:cNvSpPr/>
          <p:nvPr/>
        </p:nvSpPr>
        <p:spPr>
          <a:xfrm>
            <a:off x="777240" y="2148840"/>
            <a:ext cx="2468880" cy="1005840"/>
          </a:xfrm>
          <a:prstGeom prst="roundRect">
            <a:avLst>
              <a:gd name="adj" fmla="val 7273"/>
            </a:avLst>
          </a:prstGeom>
          <a:solidFill>
            <a:schemeClr val="bg1"/>
          </a:solidFill>
          <a:ln w="12700">
            <a:solidFill>
              <a:schemeClr val="bg1"/>
            </a:solidFill>
            <a:prstDash val="solid"/>
          </a:ln>
        </p:spPr>
      </p:sp>
      <p:sp>
        <p:nvSpPr>
          <p:cNvPr id="6" name="Text 4"/>
          <p:cNvSpPr txBox="1"/>
          <p:nvPr/>
        </p:nvSpPr>
        <p:spPr>
          <a:xfrm>
            <a:off x="914400" y="2148840"/>
            <a:ext cx="2194560" cy="1005840"/>
          </a:xfrm>
          <a:prstGeom prst="rect">
            <a:avLst/>
          </a:prstGeom>
          <a:noFill/>
          <a:ln/>
        </p:spPr>
        <p:txBody>
          <a:bodyPr wrap="square" lIns="0" tIns="0" rIns="0" bIns="0" rtlCol="0" anchor="ctr"/>
          <a:lstStyle/>
          <a:p>
            <a:pPr marL="0" indent="0">
              <a:buNone/>
            </a:pPr>
            <a:r>
              <a:rPr lang="en-US" sz="1400" b="1" dirty="0">
                <a:solidFill>
                  <a:schemeClr val="tx1"/>
                </a:solidFill>
              </a:rPr>
              <a:t>①提案の質が下がり、失注率が上がる</a:t>
            </a:r>
            <a:endParaRPr lang="en-US" sz="1400" dirty="0"/>
          </a:p>
        </p:txBody>
      </p:sp>
      <p:sp>
        <p:nvSpPr>
          <p:cNvPr id="7" name="loop-node-2"/>
          <p:cNvSpPr/>
          <p:nvPr/>
        </p:nvSpPr>
        <p:spPr>
          <a:xfrm>
            <a:off x="3657600" y="2148840"/>
            <a:ext cx="2468880" cy="1005840"/>
          </a:xfrm>
          <a:prstGeom prst="roundRect">
            <a:avLst>
              <a:gd name="adj" fmla="val 7273"/>
            </a:avLst>
          </a:prstGeom>
          <a:solidFill>
            <a:schemeClr val="bg1"/>
          </a:solidFill>
          <a:ln w="12700">
            <a:solidFill>
              <a:schemeClr val="bg1"/>
            </a:solidFill>
            <a:prstDash val="solid"/>
          </a:ln>
        </p:spPr>
      </p:sp>
      <p:sp>
        <p:nvSpPr>
          <p:cNvPr id="8" name="Text 6"/>
          <p:cNvSpPr txBox="1"/>
          <p:nvPr/>
        </p:nvSpPr>
        <p:spPr>
          <a:xfrm>
            <a:off x="3794760" y="2148840"/>
            <a:ext cx="2194560" cy="1005840"/>
          </a:xfrm>
          <a:prstGeom prst="rect">
            <a:avLst/>
          </a:prstGeom>
          <a:noFill/>
          <a:ln/>
        </p:spPr>
        <p:txBody>
          <a:bodyPr wrap="square" lIns="0" tIns="0" rIns="0" bIns="0" rtlCol="0" anchor="ctr"/>
          <a:lstStyle/>
          <a:p>
            <a:pPr marL="0" indent="0">
              <a:buNone/>
            </a:pPr>
            <a:r>
              <a:rPr lang="en-US" sz="1400" b="1" dirty="0">
                <a:solidFill>
                  <a:schemeClr val="tx1"/>
                </a:solidFill>
              </a:rPr>
              <a:t>②巻き返そうと資料作成に時間をかける</a:t>
            </a:r>
            <a:endParaRPr lang="en-US" sz="1400" dirty="0"/>
          </a:p>
        </p:txBody>
      </p:sp>
      <p:sp>
        <p:nvSpPr>
          <p:cNvPr id="9" name="loop-node-3"/>
          <p:cNvSpPr/>
          <p:nvPr/>
        </p:nvSpPr>
        <p:spPr>
          <a:xfrm>
            <a:off x="3657600" y="3657600"/>
            <a:ext cx="2468880" cy="1005840"/>
          </a:xfrm>
          <a:prstGeom prst="roundRect">
            <a:avLst>
              <a:gd name="adj" fmla="val 7273"/>
            </a:avLst>
          </a:prstGeom>
          <a:solidFill>
            <a:schemeClr val="bg1"/>
          </a:solidFill>
          <a:ln w="12700">
            <a:solidFill>
              <a:schemeClr val="bg1"/>
            </a:solidFill>
            <a:prstDash val="solid"/>
          </a:ln>
        </p:spPr>
      </p:sp>
      <p:sp>
        <p:nvSpPr>
          <p:cNvPr id="10" name="Text 8"/>
          <p:cNvSpPr txBox="1"/>
          <p:nvPr/>
        </p:nvSpPr>
        <p:spPr>
          <a:xfrm>
            <a:off x="3794760" y="3657600"/>
            <a:ext cx="2194560" cy="1005840"/>
          </a:xfrm>
          <a:prstGeom prst="rect">
            <a:avLst/>
          </a:prstGeom>
          <a:noFill/>
          <a:ln/>
        </p:spPr>
        <p:txBody>
          <a:bodyPr wrap="square" lIns="0" tIns="0" rIns="0" bIns="0" rtlCol="0" anchor="ctr"/>
          <a:lstStyle/>
          <a:p>
            <a:pPr marL="0" indent="0">
              <a:buNone/>
            </a:pPr>
            <a:r>
              <a:rPr lang="en-US" sz="1400" b="1" dirty="0">
                <a:solidFill>
                  <a:schemeClr val="tx1"/>
                </a:solidFill>
              </a:rPr>
              <a:t>③しかし中身は変わらず、結果も変わらない</a:t>
            </a:r>
            <a:endParaRPr lang="en-US" sz="1400" dirty="0"/>
          </a:p>
        </p:txBody>
      </p:sp>
      <p:sp>
        <p:nvSpPr>
          <p:cNvPr id="11" name="loop-node-4"/>
          <p:cNvSpPr/>
          <p:nvPr/>
        </p:nvSpPr>
        <p:spPr>
          <a:xfrm>
            <a:off x="777240" y="3657600"/>
            <a:ext cx="2468880" cy="1005840"/>
          </a:xfrm>
          <a:prstGeom prst="roundRect">
            <a:avLst>
              <a:gd name="adj" fmla="val 7273"/>
            </a:avLst>
          </a:prstGeom>
          <a:solidFill>
            <a:schemeClr val="bg1"/>
          </a:solidFill>
          <a:ln w="12700">
            <a:solidFill>
              <a:schemeClr val="bg1"/>
            </a:solidFill>
            <a:prstDash val="solid"/>
          </a:ln>
        </p:spPr>
      </p:sp>
      <p:sp>
        <p:nvSpPr>
          <p:cNvPr id="12" name="Text 10"/>
          <p:cNvSpPr txBox="1"/>
          <p:nvPr/>
        </p:nvSpPr>
        <p:spPr>
          <a:xfrm>
            <a:off x="914400" y="3657600"/>
            <a:ext cx="2194560" cy="1005840"/>
          </a:xfrm>
          <a:prstGeom prst="rect">
            <a:avLst/>
          </a:prstGeom>
          <a:noFill/>
          <a:ln/>
        </p:spPr>
        <p:txBody>
          <a:bodyPr wrap="square" lIns="0" tIns="0" rIns="0" bIns="0" rtlCol="0" anchor="ctr"/>
          <a:lstStyle/>
          <a:p>
            <a:pPr marL="0" indent="0">
              <a:buNone/>
            </a:pPr>
            <a:r>
              <a:rPr lang="en-US" sz="1400" b="1" dirty="0">
                <a:solidFill>
                  <a:schemeClr val="tx1"/>
                </a:solidFill>
              </a:rPr>
              <a:t>④再び、提案の質が下がる</a:t>
            </a:r>
            <a:endParaRPr lang="en-US" sz="1400" dirty="0"/>
          </a:p>
        </p:txBody>
      </p:sp>
      <p:sp>
        <p:nvSpPr>
          <p:cNvPr id="13" name="Shape 11"/>
          <p:cNvSpPr/>
          <p:nvPr/>
        </p:nvSpPr>
        <p:spPr>
          <a:xfrm>
            <a:off x="3273552" y="2651760"/>
            <a:ext cx="365760" cy="0"/>
          </a:xfrm>
          <a:prstGeom prst="line">
            <a:avLst/>
          </a:prstGeom>
          <a:noFill/>
          <a:ln w="31750">
            <a:solidFill>
              <a:schemeClr val="accent5"/>
            </a:solidFill>
            <a:prstDash val="solid"/>
            <a:tailEnd type="triangle"/>
          </a:ln>
        </p:spPr>
      </p:sp>
      <p:sp>
        <p:nvSpPr>
          <p:cNvPr id="14" name="Shape 12"/>
          <p:cNvSpPr/>
          <p:nvPr/>
        </p:nvSpPr>
        <p:spPr>
          <a:xfrm>
            <a:off x="4892040" y="3182112"/>
            <a:ext cx="0" cy="457200"/>
          </a:xfrm>
          <a:prstGeom prst="line">
            <a:avLst/>
          </a:prstGeom>
          <a:noFill/>
          <a:ln w="31750">
            <a:solidFill>
              <a:schemeClr val="accent5"/>
            </a:solidFill>
            <a:prstDash val="solid"/>
            <a:tailEnd type="triangle"/>
          </a:ln>
        </p:spPr>
      </p:sp>
      <p:sp>
        <p:nvSpPr>
          <p:cNvPr id="15" name="Shape 13"/>
          <p:cNvSpPr/>
          <p:nvPr/>
        </p:nvSpPr>
        <p:spPr>
          <a:xfrm flipH="1">
            <a:off x="3273552" y="4160520"/>
            <a:ext cx="365760" cy="0"/>
          </a:xfrm>
          <a:prstGeom prst="line">
            <a:avLst/>
          </a:prstGeom>
          <a:noFill/>
          <a:ln w="31750">
            <a:solidFill>
              <a:schemeClr val="accent5"/>
            </a:solidFill>
            <a:prstDash val="solid"/>
            <a:tailEnd type="triangle"/>
          </a:ln>
        </p:spPr>
      </p:sp>
      <p:sp>
        <p:nvSpPr>
          <p:cNvPr id="16" name="Shape 14"/>
          <p:cNvSpPr/>
          <p:nvPr/>
        </p:nvSpPr>
        <p:spPr>
          <a:xfrm flipV="1">
            <a:off x="2011680" y="3182112"/>
            <a:ext cx="0" cy="457200"/>
          </a:xfrm>
          <a:prstGeom prst="line">
            <a:avLst/>
          </a:prstGeom>
          <a:noFill/>
          <a:ln w="31750">
            <a:solidFill>
              <a:schemeClr val="accent5"/>
            </a:solidFill>
            <a:prstDash val="solid"/>
            <a:tailEnd type="triangle"/>
          </a:ln>
        </p:spPr>
      </p:sp>
      <p:sp>
        <p:nvSpPr>
          <p:cNvPr id="17" name="Text 15"/>
          <p:cNvSpPr txBox="1"/>
          <p:nvPr/>
        </p:nvSpPr>
        <p:spPr>
          <a:xfrm>
            <a:off x="777240" y="4800600"/>
            <a:ext cx="5349240" cy="274320"/>
          </a:xfrm>
          <a:prstGeom prst="rect">
            <a:avLst/>
          </a:prstGeom>
          <a:noFill/>
          <a:ln/>
        </p:spPr>
        <p:txBody>
          <a:bodyPr wrap="square" lIns="0" tIns="0" rIns="0" bIns="0" rtlCol="0" anchor="t"/>
          <a:lstStyle/>
          <a:p>
            <a:pPr marL="0" indent="0" algn="ctr">
              <a:buNone/>
            </a:pPr>
            <a:r>
              <a:rPr lang="en-US" sz="1400" b="1" dirty="0">
                <a:solidFill>
                  <a:schemeClr val="accent3"/>
                </a:solidFill>
              </a:rPr>
              <a:t>頑張るほど、失注が減らない悪循環</a:t>
            </a:r>
            <a:endParaRPr lang="en-US" sz="1400" dirty="0"/>
          </a:p>
        </p:txBody>
      </p:sp>
      <p:sp>
        <p:nvSpPr>
          <p:cNvPr id="18" name="stat-1"/>
          <p:cNvSpPr/>
          <p:nvPr/>
        </p:nvSpPr>
        <p:spPr>
          <a:xfrm>
            <a:off x="6675120" y="1920240"/>
            <a:ext cx="4965192" cy="1005840"/>
          </a:xfrm>
          <a:prstGeom prst="roundRect">
            <a:avLst>
              <a:gd name="adj" fmla="val 7273"/>
            </a:avLst>
          </a:prstGeom>
          <a:solidFill>
            <a:schemeClr val="bg2"/>
          </a:solidFill>
          <a:ln w="12700">
            <a:solidFill>
              <a:schemeClr val="bg2"/>
            </a:solidFill>
            <a:prstDash val="solid"/>
          </a:ln>
        </p:spPr>
      </p:sp>
      <p:sp>
        <p:nvSpPr>
          <p:cNvPr id="19" name="Text 17"/>
          <p:cNvSpPr txBox="1"/>
          <p:nvPr/>
        </p:nvSpPr>
        <p:spPr>
          <a:xfrm>
            <a:off x="6858000" y="1920240"/>
            <a:ext cx="2011680" cy="1005840"/>
          </a:xfrm>
          <a:prstGeom prst="rect">
            <a:avLst/>
          </a:prstGeom>
          <a:noFill/>
          <a:ln/>
        </p:spPr>
        <p:txBody>
          <a:bodyPr wrap="square" lIns="0" tIns="0" rIns="0" bIns="0" rtlCol="0" anchor="ctr"/>
          <a:lstStyle/>
          <a:p>
            <a:pPr marL="0" indent="0">
              <a:buNone/>
            </a:pPr>
            <a:r>
              <a:rPr lang="en-US" sz="3000" b="1" dirty="0">
                <a:solidFill>
                  <a:schemeClr val="accent1"/>
                </a:solidFill>
              </a:rPr>
              <a:t>300名</a:t>
            </a:r>
            <a:endParaRPr lang="en-US" sz="3000" dirty="0"/>
          </a:p>
        </p:txBody>
      </p:sp>
      <p:sp>
        <p:nvSpPr>
          <p:cNvPr id="20" name="Text 18"/>
          <p:cNvSpPr txBox="1"/>
          <p:nvPr/>
        </p:nvSpPr>
        <p:spPr>
          <a:xfrm>
            <a:off x="8915400" y="1920240"/>
            <a:ext cx="2606040" cy="1005840"/>
          </a:xfrm>
          <a:prstGeom prst="rect">
            <a:avLst/>
          </a:prstGeom>
          <a:noFill/>
          <a:ln/>
        </p:spPr>
        <p:txBody>
          <a:bodyPr wrap="square" lIns="0" tIns="0" rIns="0" bIns="0" rtlCol="0" anchor="ctr"/>
          <a:lstStyle/>
          <a:p>
            <a:pPr marL="0" indent="0">
              <a:buNone/>
            </a:pPr>
            <a:r>
              <a:rPr lang="en-US" sz="1400" dirty="0" err="1">
                <a:solidFill>
                  <a:schemeClr val="tx1"/>
                </a:solidFill>
              </a:rPr>
              <a:t>対象</a:t>
            </a:r>
            <a:r>
              <a:rPr lang="en-US" sz="1400" dirty="0">
                <a:solidFill>
                  <a:schemeClr val="tx1"/>
                </a:solidFill>
              </a:rPr>
              <a:t>：</a:t>
            </a:r>
          </a:p>
          <a:p>
            <a:pPr marL="0" indent="0">
              <a:buNone/>
            </a:pPr>
            <a:r>
              <a:rPr lang="en-US" sz="1400" dirty="0" err="1">
                <a:solidFill>
                  <a:schemeClr val="tx1"/>
                </a:solidFill>
              </a:rPr>
              <a:t>提案書を作る営業担当とマネージャ</a:t>
            </a:r>
            <a:r>
              <a:rPr lang="en-US" sz="1400" dirty="0">
                <a:solidFill>
                  <a:schemeClr val="tx1"/>
                </a:solidFill>
              </a:rPr>
              <a:t>ー（全1,500名の20%）</a:t>
            </a:r>
            <a:endParaRPr lang="en-US" sz="1400" dirty="0"/>
          </a:p>
        </p:txBody>
      </p:sp>
      <p:sp>
        <p:nvSpPr>
          <p:cNvPr id="21" name="stat-2"/>
          <p:cNvSpPr/>
          <p:nvPr/>
        </p:nvSpPr>
        <p:spPr>
          <a:xfrm>
            <a:off x="6675120" y="3035808"/>
            <a:ext cx="4965192" cy="1005840"/>
          </a:xfrm>
          <a:prstGeom prst="roundRect">
            <a:avLst>
              <a:gd name="adj" fmla="val 7273"/>
            </a:avLst>
          </a:prstGeom>
          <a:solidFill>
            <a:schemeClr val="bg2"/>
          </a:solidFill>
          <a:ln w="12700">
            <a:solidFill>
              <a:schemeClr val="bg2"/>
            </a:solidFill>
            <a:prstDash val="solid"/>
          </a:ln>
        </p:spPr>
      </p:sp>
      <p:sp>
        <p:nvSpPr>
          <p:cNvPr id="22" name="Text 20"/>
          <p:cNvSpPr txBox="1"/>
          <p:nvPr/>
        </p:nvSpPr>
        <p:spPr>
          <a:xfrm>
            <a:off x="6858000" y="3035808"/>
            <a:ext cx="2011680" cy="1005840"/>
          </a:xfrm>
          <a:prstGeom prst="rect">
            <a:avLst/>
          </a:prstGeom>
          <a:noFill/>
          <a:ln/>
        </p:spPr>
        <p:txBody>
          <a:bodyPr wrap="square" lIns="0" tIns="0" rIns="0" bIns="0" rtlCol="0" anchor="ctr"/>
          <a:lstStyle/>
          <a:p>
            <a:pPr marL="0" indent="0">
              <a:buNone/>
            </a:pPr>
            <a:r>
              <a:rPr lang="en-US" sz="3000" b="1" dirty="0">
                <a:solidFill>
                  <a:schemeClr val="accent1"/>
                </a:solidFill>
              </a:rPr>
              <a:t>約15時間</a:t>
            </a:r>
            <a:endParaRPr lang="en-US" sz="3000" dirty="0"/>
          </a:p>
        </p:txBody>
      </p:sp>
      <p:sp>
        <p:nvSpPr>
          <p:cNvPr id="23" name="Text 21"/>
          <p:cNvSpPr txBox="1"/>
          <p:nvPr/>
        </p:nvSpPr>
        <p:spPr>
          <a:xfrm>
            <a:off x="8915400" y="3035808"/>
            <a:ext cx="2606040" cy="1005840"/>
          </a:xfrm>
          <a:prstGeom prst="rect">
            <a:avLst/>
          </a:prstGeom>
          <a:noFill/>
          <a:ln/>
        </p:spPr>
        <p:txBody>
          <a:bodyPr wrap="square" lIns="0" tIns="0" rIns="0" bIns="0" rtlCol="0" anchor="ctr"/>
          <a:lstStyle/>
          <a:p>
            <a:pPr marL="0" indent="0">
              <a:buNone/>
            </a:pPr>
            <a:r>
              <a:rPr lang="en-US" sz="1400" dirty="0">
                <a:solidFill>
                  <a:schemeClr val="tx1"/>
                </a:solidFill>
              </a:rPr>
              <a:t>1件あたりの検索＋提案書作成</a:t>
            </a:r>
          </a:p>
          <a:p>
            <a:pPr marL="0" indent="0">
              <a:buNone/>
            </a:pPr>
            <a:r>
              <a:rPr lang="en-US" sz="1400" dirty="0">
                <a:solidFill>
                  <a:schemeClr val="tx1"/>
                </a:solidFill>
              </a:rPr>
              <a:t>（</a:t>
            </a:r>
            <a:r>
              <a:rPr lang="ja-JP" altLang="en-US" sz="1400" dirty="0">
                <a:solidFill>
                  <a:schemeClr val="tx1"/>
                </a:solidFill>
              </a:rPr>
              <a:t>検索は</a:t>
            </a:r>
            <a:r>
              <a:rPr lang="en-US" sz="1400" dirty="0">
                <a:solidFill>
                  <a:schemeClr val="tx1"/>
                </a:solidFill>
              </a:rPr>
              <a:t>全業務の約15%）</a:t>
            </a:r>
            <a:endParaRPr lang="en-US" sz="1400" dirty="0"/>
          </a:p>
        </p:txBody>
      </p:sp>
      <p:sp>
        <p:nvSpPr>
          <p:cNvPr id="24" name="stat-3"/>
          <p:cNvSpPr/>
          <p:nvPr/>
        </p:nvSpPr>
        <p:spPr>
          <a:xfrm>
            <a:off x="6675120" y="4151376"/>
            <a:ext cx="4965192" cy="1005840"/>
          </a:xfrm>
          <a:prstGeom prst="roundRect">
            <a:avLst>
              <a:gd name="adj" fmla="val 7273"/>
            </a:avLst>
          </a:prstGeom>
          <a:solidFill>
            <a:schemeClr val="bg2"/>
          </a:solidFill>
          <a:ln w="12700">
            <a:solidFill>
              <a:schemeClr val="bg2"/>
            </a:solidFill>
            <a:prstDash val="solid"/>
          </a:ln>
        </p:spPr>
      </p:sp>
      <p:sp>
        <p:nvSpPr>
          <p:cNvPr id="25" name="Text 23"/>
          <p:cNvSpPr txBox="1"/>
          <p:nvPr/>
        </p:nvSpPr>
        <p:spPr>
          <a:xfrm>
            <a:off x="6858000" y="4151376"/>
            <a:ext cx="2011680" cy="1005840"/>
          </a:xfrm>
          <a:prstGeom prst="rect">
            <a:avLst/>
          </a:prstGeom>
          <a:noFill/>
          <a:ln/>
        </p:spPr>
        <p:txBody>
          <a:bodyPr wrap="square" lIns="0" tIns="0" rIns="0" bIns="0" rtlCol="0" anchor="ctr"/>
          <a:lstStyle/>
          <a:p>
            <a:pPr marL="0" indent="0">
              <a:buNone/>
            </a:pPr>
            <a:r>
              <a:rPr lang="en-US" sz="3000" b="1" dirty="0">
                <a:solidFill>
                  <a:schemeClr val="accent1"/>
                </a:solidFill>
              </a:rPr>
              <a:t>約30件</a:t>
            </a:r>
            <a:endParaRPr lang="en-US" sz="3000" dirty="0"/>
          </a:p>
        </p:txBody>
      </p:sp>
      <p:sp>
        <p:nvSpPr>
          <p:cNvPr id="26" name="Text 24"/>
          <p:cNvSpPr txBox="1"/>
          <p:nvPr/>
        </p:nvSpPr>
        <p:spPr>
          <a:xfrm>
            <a:off x="8915400" y="4151376"/>
            <a:ext cx="2606040" cy="1005840"/>
          </a:xfrm>
          <a:prstGeom prst="rect">
            <a:avLst/>
          </a:prstGeom>
          <a:noFill/>
          <a:ln/>
        </p:spPr>
        <p:txBody>
          <a:bodyPr wrap="square" lIns="0" tIns="0" rIns="0" bIns="0" rtlCol="0" anchor="ctr"/>
          <a:lstStyle/>
          <a:p>
            <a:pPr marL="0" indent="0">
              <a:buNone/>
            </a:pPr>
            <a:r>
              <a:rPr lang="en-US" sz="1400" dirty="0">
                <a:solidFill>
                  <a:schemeClr val="tx1"/>
                </a:solidFill>
              </a:rPr>
              <a:t>年間の提案件数（1人あたり）</a:t>
            </a:r>
            <a:endParaRPr lang="en-US" sz="1400" dirty="0"/>
          </a:p>
        </p:txBody>
      </p:sp>
      <p:sp>
        <p:nvSpPr>
          <p:cNvPr id="27" name="why-tag"/>
          <p:cNvSpPr/>
          <p:nvPr/>
        </p:nvSpPr>
        <p:spPr>
          <a:xfrm>
            <a:off x="548640" y="5394960"/>
            <a:ext cx="1005840" cy="868680"/>
          </a:xfrm>
          <a:prstGeom prst="roundRect">
            <a:avLst>
              <a:gd name="adj" fmla="val 8421"/>
            </a:avLst>
          </a:prstGeom>
          <a:solidFill>
            <a:schemeClr val="accent1"/>
          </a:solidFill>
          <a:ln w="12700">
            <a:solidFill>
              <a:schemeClr val="accent1"/>
            </a:solidFill>
            <a:prstDash val="solid"/>
          </a:ln>
        </p:spPr>
      </p:sp>
      <p:sp>
        <p:nvSpPr>
          <p:cNvPr id="28" name="Text 26"/>
          <p:cNvSpPr txBox="1"/>
          <p:nvPr/>
        </p:nvSpPr>
        <p:spPr>
          <a:xfrm>
            <a:off x="548640" y="5394960"/>
            <a:ext cx="1005840" cy="868680"/>
          </a:xfrm>
          <a:prstGeom prst="rect">
            <a:avLst/>
          </a:prstGeom>
          <a:noFill/>
          <a:ln/>
        </p:spPr>
        <p:txBody>
          <a:bodyPr wrap="square" lIns="0" tIns="0" rIns="0" bIns="0" rtlCol="0" anchor="ctr"/>
          <a:lstStyle/>
          <a:p>
            <a:pPr marL="0" indent="0" algn="ctr">
              <a:buNone/>
            </a:pPr>
            <a:r>
              <a:rPr lang="en-US" sz="1400" b="1" dirty="0">
                <a:solidFill>
                  <a:schemeClr val="tx1"/>
                </a:solidFill>
              </a:rPr>
              <a:t>真因</a:t>
            </a:r>
            <a:endParaRPr lang="en-US" sz="1400" dirty="0"/>
          </a:p>
          <a:p>
            <a:pPr marL="0" indent="0" algn="ctr">
              <a:buNone/>
            </a:pPr>
            <a:r>
              <a:rPr lang="en-US" sz="1400" b="1" dirty="0">
                <a:solidFill>
                  <a:schemeClr val="tx1"/>
                </a:solidFill>
              </a:rPr>
              <a:t>5 Whys</a:t>
            </a:r>
            <a:endParaRPr lang="en-US" sz="1400" dirty="0"/>
          </a:p>
        </p:txBody>
      </p:sp>
      <p:sp>
        <p:nvSpPr>
          <p:cNvPr id="29" name="why-1"/>
          <p:cNvSpPr/>
          <p:nvPr/>
        </p:nvSpPr>
        <p:spPr>
          <a:xfrm>
            <a:off x="1691640" y="5394960"/>
            <a:ext cx="3246120" cy="868680"/>
          </a:xfrm>
          <a:prstGeom prst="roundRect">
            <a:avLst>
              <a:gd name="adj" fmla="val 8421"/>
            </a:avLst>
          </a:prstGeom>
          <a:solidFill>
            <a:schemeClr val="bg2"/>
          </a:solidFill>
          <a:ln w="12700">
            <a:solidFill>
              <a:schemeClr val="bg2"/>
            </a:solidFill>
            <a:prstDash val="solid"/>
          </a:ln>
        </p:spPr>
      </p:sp>
      <p:sp>
        <p:nvSpPr>
          <p:cNvPr id="30" name="Text 28"/>
          <p:cNvSpPr txBox="1"/>
          <p:nvPr/>
        </p:nvSpPr>
        <p:spPr>
          <a:xfrm>
            <a:off x="1801368" y="5394960"/>
            <a:ext cx="3026664" cy="868680"/>
          </a:xfrm>
          <a:prstGeom prst="rect">
            <a:avLst/>
          </a:prstGeom>
          <a:noFill/>
          <a:ln/>
        </p:spPr>
        <p:txBody>
          <a:bodyPr wrap="square" lIns="0" tIns="0" rIns="0" bIns="0" rtlCol="0" anchor="ctr"/>
          <a:lstStyle/>
          <a:p>
            <a:pPr marL="0" indent="0">
              <a:buNone/>
            </a:pPr>
            <a:r>
              <a:rPr lang="en-US" sz="1400" dirty="0">
                <a:solidFill>
                  <a:schemeClr val="tx1"/>
                </a:solidFill>
              </a:rPr>
              <a:t>過去の成功・失敗や最新の規制・補助金を探せず、ゼロから調べ直している</a:t>
            </a:r>
            <a:endParaRPr lang="en-US" sz="1400" dirty="0"/>
          </a:p>
        </p:txBody>
      </p:sp>
      <p:sp>
        <p:nvSpPr>
          <p:cNvPr id="31" name="why-2"/>
          <p:cNvSpPr/>
          <p:nvPr/>
        </p:nvSpPr>
        <p:spPr>
          <a:xfrm>
            <a:off x="5074920" y="5394960"/>
            <a:ext cx="3246120" cy="868680"/>
          </a:xfrm>
          <a:prstGeom prst="roundRect">
            <a:avLst>
              <a:gd name="adj" fmla="val 8421"/>
            </a:avLst>
          </a:prstGeom>
          <a:solidFill>
            <a:schemeClr val="bg2"/>
          </a:solidFill>
          <a:ln w="12700">
            <a:solidFill>
              <a:schemeClr val="bg2"/>
            </a:solidFill>
            <a:prstDash val="solid"/>
          </a:ln>
        </p:spPr>
      </p:sp>
      <p:sp>
        <p:nvSpPr>
          <p:cNvPr id="32" name="Text 30"/>
          <p:cNvSpPr txBox="1"/>
          <p:nvPr/>
        </p:nvSpPr>
        <p:spPr>
          <a:xfrm>
            <a:off x="5184648" y="5394960"/>
            <a:ext cx="3026664" cy="868680"/>
          </a:xfrm>
          <a:prstGeom prst="rect">
            <a:avLst/>
          </a:prstGeom>
          <a:noFill/>
          <a:ln/>
        </p:spPr>
        <p:txBody>
          <a:bodyPr wrap="square" lIns="0" tIns="0" rIns="0" bIns="0" rtlCol="0" anchor="ctr"/>
          <a:lstStyle/>
          <a:p>
            <a:pPr marL="0" indent="0">
              <a:buNone/>
            </a:pPr>
            <a:r>
              <a:rPr lang="en-US" sz="1400" dirty="0">
                <a:solidFill>
                  <a:schemeClr val="tx1"/>
                </a:solidFill>
              </a:rPr>
              <a:t>失注理由が担当者の記録ベースで、真因が分からない</a:t>
            </a:r>
            <a:endParaRPr lang="en-US" sz="1400" dirty="0"/>
          </a:p>
        </p:txBody>
      </p:sp>
      <p:sp>
        <p:nvSpPr>
          <p:cNvPr id="33" name="why-3"/>
          <p:cNvSpPr/>
          <p:nvPr/>
        </p:nvSpPr>
        <p:spPr>
          <a:xfrm>
            <a:off x="8458200" y="5394960"/>
            <a:ext cx="3246120" cy="868680"/>
          </a:xfrm>
          <a:prstGeom prst="roundRect">
            <a:avLst>
              <a:gd name="adj" fmla="val 8421"/>
            </a:avLst>
          </a:prstGeom>
          <a:solidFill>
            <a:schemeClr val="bg2"/>
          </a:solidFill>
          <a:ln w="12700">
            <a:solidFill>
              <a:schemeClr val="bg2"/>
            </a:solidFill>
            <a:prstDash val="solid"/>
          </a:ln>
        </p:spPr>
      </p:sp>
      <p:sp>
        <p:nvSpPr>
          <p:cNvPr id="34" name="Text 32"/>
          <p:cNvSpPr txBox="1"/>
          <p:nvPr/>
        </p:nvSpPr>
        <p:spPr>
          <a:xfrm>
            <a:off x="8567928" y="5394960"/>
            <a:ext cx="3026664" cy="868680"/>
          </a:xfrm>
          <a:prstGeom prst="rect">
            <a:avLst/>
          </a:prstGeom>
          <a:noFill/>
          <a:ln/>
        </p:spPr>
        <p:txBody>
          <a:bodyPr wrap="square" lIns="0" tIns="0" rIns="0" bIns="0" rtlCol="0" anchor="ctr"/>
          <a:lstStyle/>
          <a:p>
            <a:pPr marL="0" indent="0">
              <a:buNone/>
            </a:pPr>
            <a:r>
              <a:rPr lang="en-US" sz="1400" dirty="0">
                <a:solidFill>
                  <a:schemeClr val="tx1"/>
                </a:solidFill>
              </a:rPr>
              <a:t>項目を増やすと入力負荷が上がり、入力されなくなる</a:t>
            </a:r>
            <a:endParaRPr lang="en-US" sz="1400" dirty="0"/>
          </a:p>
        </p:txBody>
      </p:sp>
      <p:sp>
        <p:nvSpPr>
          <p:cNvPr id="3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tx1"/>
                </a:solidFill>
              </a:rPr>
              <a:t>解決策：過去の蓄積を、提案の場面で使える形にする</a:t>
            </a:r>
            <a:endParaRPr lang="en-US" sz="2800" dirty="0"/>
          </a:p>
        </p:txBody>
      </p:sp>
      <p:sp>
        <p:nvSpPr>
          <p:cNvPr id="3" name="Text 1"/>
          <p:cNvSpPr txBox="1"/>
          <p:nvPr/>
        </p:nvSpPr>
        <p:spPr>
          <a:xfrm>
            <a:off x="548640" y="1188720"/>
            <a:ext cx="11094415" cy="365760"/>
          </a:xfrm>
          <a:prstGeom prst="rect">
            <a:avLst/>
          </a:prstGeom>
          <a:noFill/>
          <a:ln/>
        </p:spPr>
        <p:txBody>
          <a:bodyPr wrap="square" lIns="0" tIns="0" rIns="0" bIns="0" rtlCol="0" anchor="t"/>
          <a:lstStyle/>
          <a:p>
            <a:pPr marL="0" indent="0">
              <a:buNone/>
            </a:pPr>
            <a:r>
              <a:rPr lang="en-US" sz="1600" dirty="0">
                <a:solidFill>
                  <a:schemeClr val="tx2"/>
                </a:solidFill>
              </a:rPr>
              <a:t>営業の時間を「探す・作り直す」から「考える」へ移す。主な機能はコア3点。</a:t>
            </a:r>
            <a:endParaRPr lang="en-US" sz="1600" dirty="0"/>
          </a:p>
        </p:txBody>
      </p:sp>
      <p:sp>
        <p:nvSpPr>
          <p:cNvPr id="4" name="core-1"/>
          <p:cNvSpPr/>
          <p:nvPr/>
        </p:nvSpPr>
        <p:spPr>
          <a:xfrm>
            <a:off x="548640" y="1783080"/>
            <a:ext cx="3383280" cy="2834640"/>
          </a:xfrm>
          <a:prstGeom prst="roundRect">
            <a:avLst>
              <a:gd name="adj" fmla="val 2581"/>
            </a:avLst>
          </a:prstGeom>
          <a:solidFill>
            <a:schemeClr val="bg2"/>
          </a:solidFill>
          <a:ln w="12700">
            <a:solidFill>
              <a:schemeClr val="bg2"/>
            </a:solidFill>
            <a:prstDash val="solid"/>
          </a:ln>
        </p:spPr>
      </p:sp>
      <p:sp>
        <p:nvSpPr>
          <p:cNvPr id="5" name="num-1"/>
          <p:cNvSpPr/>
          <p:nvPr/>
        </p:nvSpPr>
        <p:spPr>
          <a:xfrm>
            <a:off x="777240" y="196596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777240"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5"/>
          <p:cNvSpPr txBox="1"/>
          <p:nvPr/>
        </p:nvSpPr>
        <p:spPr>
          <a:xfrm>
            <a:off x="1463040" y="1965960"/>
            <a:ext cx="2377440" cy="548640"/>
          </a:xfrm>
          <a:prstGeom prst="rect">
            <a:avLst/>
          </a:prstGeom>
          <a:noFill/>
          <a:ln/>
        </p:spPr>
        <p:txBody>
          <a:bodyPr wrap="square" lIns="0" tIns="0" rIns="0" bIns="0" rtlCol="0" anchor="ctr"/>
          <a:lstStyle/>
          <a:p>
            <a:pPr marL="0" indent="0">
              <a:buNone/>
            </a:pPr>
            <a:r>
              <a:rPr lang="en-US" sz="1900" b="1" dirty="0">
                <a:solidFill>
                  <a:schemeClr val="tx1"/>
                </a:solidFill>
              </a:rPr>
              <a:t>似た案件を見つける</a:t>
            </a:r>
            <a:endParaRPr lang="en-US" sz="1900" dirty="0"/>
          </a:p>
        </p:txBody>
      </p:sp>
      <p:sp>
        <p:nvSpPr>
          <p:cNvPr id="8" name="Text 6"/>
          <p:cNvSpPr txBox="1"/>
          <p:nvPr/>
        </p:nvSpPr>
        <p:spPr>
          <a:xfrm>
            <a:off x="777240" y="2743200"/>
            <a:ext cx="2926080" cy="1188720"/>
          </a:xfrm>
          <a:prstGeom prst="rect">
            <a:avLst/>
          </a:prstGeom>
          <a:noFill/>
          <a:ln/>
        </p:spPr>
        <p:txBody>
          <a:bodyPr wrap="square" lIns="0" tIns="0" rIns="0" bIns="0" rtlCol="0" anchor="t"/>
          <a:lstStyle/>
          <a:p>
            <a:pPr marL="0" indent="0">
              <a:buNone/>
            </a:pPr>
            <a:r>
              <a:rPr lang="en-US" sz="1500" dirty="0">
                <a:solidFill>
                  <a:schemeClr val="tx1"/>
                </a:solidFill>
              </a:rPr>
              <a:t>新案件の条件（業種・機種・課題など）から、過去の似た案件を受注・失注に分けて並べる</a:t>
            </a:r>
            <a:endParaRPr lang="en-US" sz="1500" dirty="0"/>
          </a:p>
        </p:txBody>
      </p:sp>
      <p:sp>
        <p:nvSpPr>
          <p:cNvPr id="9" name="core-tech-1"/>
          <p:cNvSpPr/>
          <p:nvPr/>
        </p:nvSpPr>
        <p:spPr>
          <a:xfrm>
            <a:off x="777240" y="4023360"/>
            <a:ext cx="2926080" cy="411480"/>
          </a:xfrm>
          <a:prstGeom prst="roundRect">
            <a:avLst>
              <a:gd name="adj" fmla="val 17778"/>
            </a:avLst>
          </a:prstGeom>
          <a:solidFill>
            <a:schemeClr val="bg1"/>
          </a:solidFill>
          <a:ln w="12700">
            <a:solidFill>
              <a:schemeClr val="bg1"/>
            </a:solidFill>
            <a:prstDash val="solid"/>
          </a:ln>
        </p:spPr>
      </p:sp>
      <p:sp>
        <p:nvSpPr>
          <p:cNvPr id="10" name="Text 8"/>
          <p:cNvSpPr txBox="1"/>
          <p:nvPr/>
        </p:nvSpPr>
        <p:spPr>
          <a:xfrm>
            <a:off x="777240" y="4023360"/>
            <a:ext cx="2926080" cy="411480"/>
          </a:xfrm>
          <a:prstGeom prst="rect">
            <a:avLst/>
          </a:prstGeom>
          <a:noFill/>
          <a:ln/>
        </p:spPr>
        <p:txBody>
          <a:bodyPr wrap="square" lIns="0" tIns="0" rIns="0" bIns="0" rtlCol="0" anchor="ctr"/>
          <a:lstStyle/>
          <a:p>
            <a:pPr marL="0" indent="0" algn="ctr">
              <a:buNone/>
            </a:pPr>
            <a:r>
              <a:rPr lang="en-US" sz="1400" b="1" dirty="0">
                <a:solidFill>
                  <a:schemeClr val="accent4"/>
                </a:solidFill>
              </a:rPr>
              <a:t>TF-IDF＋項目一致＋全文検索</a:t>
            </a:r>
            <a:endParaRPr lang="en-US" sz="1400" dirty="0"/>
          </a:p>
        </p:txBody>
      </p:sp>
      <p:sp>
        <p:nvSpPr>
          <p:cNvPr id="11" name="Text 9"/>
          <p:cNvSpPr txBox="1"/>
          <p:nvPr/>
        </p:nvSpPr>
        <p:spPr>
          <a:xfrm>
            <a:off x="3931920" y="2926080"/>
            <a:ext cx="457200" cy="457200"/>
          </a:xfrm>
          <a:prstGeom prst="rect">
            <a:avLst/>
          </a:prstGeom>
          <a:noFill/>
          <a:ln/>
        </p:spPr>
        <p:txBody>
          <a:bodyPr wrap="square" lIns="0" tIns="0" rIns="0" bIns="0" rtlCol="0" anchor="ctr"/>
          <a:lstStyle/>
          <a:p>
            <a:pPr marL="0" indent="0" algn="ctr">
              <a:buNone/>
            </a:pPr>
            <a:r>
              <a:rPr lang="en-US" sz="2000" dirty="0">
                <a:solidFill>
                  <a:schemeClr val="accent1"/>
                </a:solidFill>
              </a:rPr>
              <a:t>▶</a:t>
            </a:r>
            <a:endParaRPr lang="en-US" sz="2000" dirty="0"/>
          </a:p>
        </p:txBody>
      </p:sp>
      <p:sp>
        <p:nvSpPr>
          <p:cNvPr id="12" name="core-2"/>
          <p:cNvSpPr/>
          <p:nvPr/>
        </p:nvSpPr>
        <p:spPr>
          <a:xfrm>
            <a:off x="4389120" y="1783080"/>
            <a:ext cx="3383280" cy="2834640"/>
          </a:xfrm>
          <a:prstGeom prst="roundRect">
            <a:avLst>
              <a:gd name="adj" fmla="val 2581"/>
            </a:avLst>
          </a:prstGeom>
          <a:solidFill>
            <a:schemeClr val="bg2"/>
          </a:solidFill>
          <a:ln w="12700">
            <a:solidFill>
              <a:schemeClr val="bg2"/>
            </a:solidFill>
            <a:prstDash val="solid"/>
          </a:ln>
        </p:spPr>
      </p:sp>
      <p:sp>
        <p:nvSpPr>
          <p:cNvPr id="13" name="num-2"/>
          <p:cNvSpPr/>
          <p:nvPr/>
        </p:nvSpPr>
        <p:spPr>
          <a:xfrm>
            <a:off x="4617720" y="1965960"/>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4617720"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5" name="Text 13"/>
          <p:cNvSpPr txBox="1"/>
          <p:nvPr/>
        </p:nvSpPr>
        <p:spPr>
          <a:xfrm>
            <a:off x="5303520" y="1965960"/>
            <a:ext cx="2377440" cy="548640"/>
          </a:xfrm>
          <a:prstGeom prst="rect">
            <a:avLst/>
          </a:prstGeom>
          <a:noFill/>
          <a:ln/>
        </p:spPr>
        <p:txBody>
          <a:bodyPr wrap="square" lIns="0" tIns="0" rIns="0" bIns="0" rtlCol="0" anchor="ctr"/>
          <a:lstStyle/>
          <a:p>
            <a:pPr marL="0" indent="0">
              <a:buNone/>
            </a:pPr>
            <a:r>
              <a:rPr lang="en-US" sz="1900" b="1" dirty="0">
                <a:solidFill>
                  <a:schemeClr val="tx1"/>
                </a:solidFill>
              </a:rPr>
              <a:t>勝因・敗因を知る</a:t>
            </a:r>
            <a:endParaRPr lang="en-US" sz="1900" dirty="0"/>
          </a:p>
        </p:txBody>
      </p:sp>
      <p:sp>
        <p:nvSpPr>
          <p:cNvPr id="16" name="Text 14"/>
          <p:cNvSpPr txBox="1"/>
          <p:nvPr/>
        </p:nvSpPr>
        <p:spPr>
          <a:xfrm>
            <a:off x="4617720" y="2743200"/>
            <a:ext cx="2926080" cy="1188720"/>
          </a:xfrm>
          <a:prstGeom prst="rect">
            <a:avLst/>
          </a:prstGeom>
          <a:noFill/>
          <a:ln/>
        </p:spPr>
        <p:txBody>
          <a:bodyPr wrap="square" lIns="0" tIns="0" rIns="0" bIns="0" rtlCol="0" anchor="t"/>
          <a:lstStyle/>
          <a:p>
            <a:pPr marL="0" indent="0">
              <a:buNone/>
            </a:pPr>
            <a:r>
              <a:rPr lang="en-US" sz="1500" dirty="0" err="1">
                <a:solidFill>
                  <a:schemeClr val="tx1"/>
                </a:solidFill>
              </a:rPr>
              <a:t>受注と失注で違った項目と要因カテゴリを表示</a:t>
            </a:r>
            <a:r>
              <a:rPr lang="en-US" sz="1500" dirty="0">
                <a:solidFill>
                  <a:schemeClr val="tx1"/>
                </a:solidFill>
              </a:rPr>
              <a:t>。</a:t>
            </a:r>
          </a:p>
          <a:p>
            <a:pPr marL="0" indent="0">
              <a:buNone/>
            </a:pPr>
            <a:r>
              <a:rPr lang="en-US" sz="1500" dirty="0" err="1">
                <a:solidFill>
                  <a:schemeClr val="tx1"/>
                </a:solidFill>
              </a:rPr>
              <a:t>原文・原本リンクで根拠まで確認できる</a:t>
            </a:r>
            <a:endParaRPr lang="en-US" sz="1500" dirty="0"/>
          </a:p>
        </p:txBody>
      </p:sp>
      <p:sp>
        <p:nvSpPr>
          <p:cNvPr id="17" name="core-tech-2"/>
          <p:cNvSpPr/>
          <p:nvPr/>
        </p:nvSpPr>
        <p:spPr>
          <a:xfrm>
            <a:off x="4617720" y="4023360"/>
            <a:ext cx="2926080" cy="411480"/>
          </a:xfrm>
          <a:prstGeom prst="roundRect">
            <a:avLst>
              <a:gd name="adj" fmla="val 17778"/>
            </a:avLst>
          </a:prstGeom>
          <a:solidFill>
            <a:schemeClr val="bg1"/>
          </a:solidFill>
          <a:ln w="12700">
            <a:solidFill>
              <a:schemeClr val="bg1"/>
            </a:solidFill>
            <a:prstDash val="solid"/>
          </a:ln>
        </p:spPr>
      </p:sp>
      <p:sp>
        <p:nvSpPr>
          <p:cNvPr id="18" name="Text 16"/>
          <p:cNvSpPr txBox="1"/>
          <p:nvPr/>
        </p:nvSpPr>
        <p:spPr>
          <a:xfrm>
            <a:off x="4617720" y="4023360"/>
            <a:ext cx="2926080" cy="411480"/>
          </a:xfrm>
          <a:prstGeom prst="rect">
            <a:avLst/>
          </a:prstGeom>
          <a:noFill/>
          <a:ln/>
        </p:spPr>
        <p:txBody>
          <a:bodyPr wrap="square" lIns="0" tIns="0" rIns="0" bIns="0" rtlCol="0" anchor="ctr"/>
          <a:lstStyle/>
          <a:p>
            <a:pPr marL="0" indent="0" algn="ctr">
              <a:buNone/>
            </a:pPr>
            <a:r>
              <a:rPr lang="en-US" sz="1400" b="1" dirty="0">
                <a:solidFill>
                  <a:schemeClr val="accent4"/>
                </a:solidFill>
              </a:rPr>
              <a:t>要因カテゴリ＋原文リンク</a:t>
            </a:r>
            <a:endParaRPr lang="en-US" sz="1400" dirty="0"/>
          </a:p>
        </p:txBody>
      </p:sp>
      <p:sp>
        <p:nvSpPr>
          <p:cNvPr id="19" name="Text 17"/>
          <p:cNvSpPr txBox="1"/>
          <p:nvPr/>
        </p:nvSpPr>
        <p:spPr>
          <a:xfrm>
            <a:off x="7772400" y="2926080"/>
            <a:ext cx="457200" cy="457200"/>
          </a:xfrm>
          <a:prstGeom prst="rect">
            <a:avLst/>
          </a:prstGeom>
          <a:noFill/>
          <a:ln/>
        </p:spPr>
        <p:txBody>
          <a:bodyPr wrap="square" lIns="0" tIns="0" rIns="0" bIns="0" rtlCol="0" anchor="ctr"/>
          <a:lstStyle/>
          <a:p>
            <a:pPr marL="0" indent="0" algn="ctr">
              <a:buNone/>
            </a:pPr>
            <a:r>
              <a:rPr lang="en-US" sz="2000" dirty="0">
                <a:solidFill>
                  <a:schemeClr val="accent1"/>
                </a:solidFill>
              </a:rPr>
              <a:t>▶</a:t>
            </a:r>
            <a:endParaRPr lang="en-US" sz="2000" dirty="0"/>
          </a:p>
        </p:txBody>
      </p:sp>
      <p:sp>
        <p:nvSpPr>
          <p:cNvPr id="20" name="core-3"/>
          <p:cNvSpPr/>
          <p:nvPr/>
        </p:nvSpPr>
        <p:spPr>
          <a:xfrm>
            <a:off x="8229600" y="1783080"/>
            <a:ext cx="3383280" cy="2834640"/>
          </a:xfrm>
          <a:prstGeom prst="roundRect">
            <a:avLst>
              <a:gd name="adj" fmla="val 2581"/>
            </a:avLst>
          </a:prstGeom>
          <a:solidFill>
            <a:schemeClr val="bg2"/>
          </a:solidFill>
          <a:ln w="12700">
            <a:solidFill>
              <a:schemeClr val="bg2"/>
            </a:solidFill>
            <a:prstDash val="solid"/>
          </a:ln>
        </p:spPr>
      </p:sp>
      <p:sp>
        <p:nvSpPr>
          <p:cNvPr id="21" name="num-3"/>
          <p:cNvSpPr/>
          <p:nvPr/>
        </p:nvSpPr>
        <p:spPr>
          <a:xfrm>
            <a:off x="8458200" y="1965960"/>
            <a:ext cx="548640" cy="548640"/>
          </a:xfrm>
          <a:prstGeom prst="ellipse">
            <a:avLst/>
          </a:prstGeom>
          <a:solidFill>
            <a:schemeClr val="accent1"/>
          </a:solidFill>
          <a:ln w="12700">
            <a:solidFill>
              <a:schemeClr val="accent1"/>
            </a:solidFill>
            <a:prstDash val="solid"/>
          </a:ln>
        </p:spPr>
      </p:sp>
      <p:sp>
        <p:nvSpPr>
          <p:cNvPr id="22" name="Text 20"/>
          <p:cNvSpPr txBox="1"/>
          <p:nvPr/>
        </p:nvSpPr>
        <p:spPr>
          <a:xfrm>
            <a:off x="8458200"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23" name="Text 21"/>
          <p:cNvSpPr txBox="1"/>
          <p:nvPr/>
        </p:nvSpPr>
        <p:spPr>
          <a:xfrm>
            <a:off x="9144000" y="1965960"/>
            <a:ext cx="2377440" cy="548640"/>
          </a:xfrm>
          <a:prstGeom prst="rect">
            <a:avLst/>
          </a:prstGeom>
          <a:noFill/>
          <a:ln/>
        </p:spPr>
        <p:txBody>
          <a:bodyPr wrap="square" lIns="0" tIns="0" rIns="0" bIns="0" rtlCol="0" anchor="ctr"/>
          <a:lstStyle/>
          <a:p>
            <a:pPr marL="0" indent="0">
              <a:buNone/>
            </a:pPr>
            <a:r>
              <a:rPr lang="en-US" sz="1900" b="1" dirty="0">
                <a:solidFill>
                  <a:schemeClr val="tx1"/>
                </a:solidFill>
              </a:rPr>
              <a:t>提案の材料を集める</a:t>
            </a:r>
            <a:endParaRPr lang="en-US" sz="1900" dirty="0"/>
          </a:p>
        </p:txBody>
      </p:sp>
      <p:sp>
        <p:nvSpPr>
          <p:cNvPr id="24" name="Text 22"/>
          <p:cNvSpPr txBox="1"/>
          <p:nvPr/>
        </p:nvSpPr>
        <p:spPr>
          <a:xfrm>
            <a:off x="8458200" y="2743200"/>
            <a:ext cx="2926080" cy="1188720"/>
          </a:xfrm>
          <a:prstGeom prst="rect">
            <a:avLst/>
          </a:prstGeom>
          <a:noFill/>
          <a:ln/>
        </p:spPr>
        <p:txBody>
          <a:bodyPr wrap="square" lIns="0" tIns="0" rIns="0" bIns="0" rtlCol="0" anchor="t"/>
          <a:lstStyle/>
          <a:p>
            <a:pPr marL="0" indent="0">
              <a:buNone/>
            </a:pPr>
            <a:r>
              <a:rPr lang="en-US" sz="1500" dirty="0">
                <a:solidFill>
                  <a:schemeClr val="tx1"/>
                </a:solidFill>
              </a:rPr>
              <a:t>使える補助金と確認すべき法令を、「なぜ該当するか」の理由つきで提示する</a:t>
            </a:r>
            <a:endParaRPr lang="en-US" sz="1500" dirty="0"/>
          </a:p>
        </p:txBody>
      </p:sp>
      <p:sp>
        <p:nvSpPr>
          <p:cNvPr id="25" name="core-tech-3"/>
          <p:cNvSpPr/>
          <p:nvPr/>
        </p:nvSpPr>
        <p:spPr>
          <a:xfrm>
            <a:off x="8458200" y="4023360"/>
            <a:ext cx="2926080" cy="411480"/>
          </a:xfrm>
          <a:prstGeom prst="roundRect">
            <a:avLst>
              <a:gd name="adj" fmla="val 17778"/>
            </a:avLst>
          </a:prstGeom>
          <a:solidFill>
            <a:schemeClr val="bg1"/>
          </a:solidFill>
          <a:ln w="12700">
            <a:solidFill>
              <a:schemeClr val="bg1"/>
            </a:solidFill>
            <a:prstDash val="solid"/>
          </a:ln>
        </p:spPr>
      </p:sp>
      <p:sp>
        <p:nvSpPr>
          <p:cNvPr id="26" name="Text 24"/>
          <p:cNvSpPr txBox="1"/>
          <p:nvPr/>
        </p:nvSpPr>
        <p:spPr>
          <a:xfrm>
            <a:off x="8458200" y="4023360"/>
            <a:ext cx="2926080" cy="411480"/>
          </a:xfrm>
          <a:prstGeom prst="rect">
            <a:avLst/>
          </a:prstGeom>
          <a:noFill/>
          <a:ln/>
        </p:spPr>
        <p:txBody>
          <a:bodyPr wrap="square" lIns="0" tIns="0" rIns="0" bIns="0" rtlCol="0" anchor="ctr"/>
          <a:lstStyle/>
          <a:p>
            <a:pPr marL="0" indent="0" algn="ctr">
              <a:buNone/>
            </a:pPr>
            <a:r>
              <a:rPr lang="en-US" sz="1400" b="1" dirty="0">
                <a:solidFill>
                  <a:schemeClr val="accent4"/>
                </a:solidFill>
              </a:rPr>
              <a:t>辞書ルール＋公式API</a:t>
            </a:r>
            <a:endParaRPr lang="en-US" sz="1400" dirty="0"/>
          </a:p>
        </p:txBody>
      </p:sp>
      <p:sp>
        <p:nvSpPr>
          <p:cNvPr id="27" name="effect-1"/>
          <p:cNvSpPr/>
          <p:nvPr/>
        </p:nvSpPr>
        <p:spPr>
          <a:xfrm>
            <a:off x="548640" y="4846320"/>
            <a:ext cx="5422392" cy="1325880"/>
          </a:xfrm>
          <a:prstGeom prst="roundRect">
            <a:avLst>
              <a:gd name="adj" fmla="val 5517"/>
            </a:avLst>
          </a:prstGeom>
          <a:solidFill>
            <a:schemeClr val="accent4"/>
          </a:solidFill>
          <a:ln w="12700">
            <a:solidFill>
              <a:schemeClr val="accent4"/>
            </a:solidFill>
            <a:prstDash val="solid"/>
          </a:ln>
        </p:spPr>
      </p:sp>
      <p:sp>
        <p:nvSpPr>
          <p:cNvPr id="28" name="Text 26"/>
          <p:cNvSpPr txBox="1"/>
          <p:nvPr/>
        </p:nvSpPr>
        <p:spPr>
          <a:xfrm>
            <a:off x="822960" y="4956048"/>
            <a:ext cx="4846320" cy="365760"/>
          </a:xfrm>
          <a:prstGeom prst="rect">
            <a:avLst/>
          </a:prstGeom>
          <a:noFill/>
          <a:ln/>
        </p:spPr>
        <p:txBody>
          <a:bodyPr wrap="square" lIns="0" tIns="0" rIns="0" bIns="0" rtlCol="0" anchor="t"/>
          <a:lstStyle/>
          <a:p>
            <a:pPr marL="0" indent="0">
              <a:buNone/>
            </a:pPr>
            <a:r>
              <a:rPr lang="en-US" sz="1800" b="1" dirty="0">
                <a:solidFill>
                  <a:schemeClr val="bg1"/>
                </a:solidFill>
              </a:rPr>
              <a:t>効率化</a:t>
            </a:r>
            <a:endParaRPr lang="en-US" sz="1800" dirty="0"/>
          </a:p>
        </p:txBody>
      </p:sp>
      <p:sp>
        <p:nvSpPr>
          <p:cNvPr id="29" name="Text 27"/>
          <p:cNvSpPr txBox="1"/>
          <p:nvPr/>
        </p:nvSpPr>
        <p:spPr>
          <a:xfrm>
            <a:off x="822960" y="5394960"/>
            <a:ext cx="4846320" cy="685800"/>
          </a:xfrm>
          <a:prstGeom prst="rect">
            <a:avLst/>
          </a:prstGeom>
          <a:noFill/>
          <a:ln/>
        </p:spPr>
        <p:txBody>
          <a:bodyPr wrap="square" lIns="0" tIns="0" rIns="0" bIns="0" rtlCol="0" anchor="t"/>
          <a:lstStyle/>
          <a:p>
            <a:pPr marL="0" indent="0">
              <a:buNone/>
            </a:pPr>
            <a:r>
              <a:rPr lang="en-US" sz="1600" dirty="0" err="1">
                <a:solidFill>
                  <a:schemeClr val="bg1"/>
                </a:solidFill>
              </a:rPr>
              <a:t>検索時間を削減</a:t>
            </a:r>
            <a:r>
              <a:rPr lang="en-US" sz="1600" dirty="0">
                <a:solidFill>
                  <a:schemeClr val="bg1"/>
                </a:solidFill>
              </a:rPr>
              <a:t>、</a:t>
            </a:r>
            <a:r>
              <a:rPr lang="ja-JP" altLang="en-US" sz="1600" dirty="0">
                <a:solidFill>
                  <a:schemeClr val="bg1"/>
                </a:solidFill>
              </a:rPr>
              <a:t>かつ過去の案件を引用できるため</a:t>
            </a:r>
            <a:r>
              <a:rPr lang="en-US" sz="1600" dirty="0" err="1">
                <a:solidFill>
                  <a:schemeClr val="bg1"/>
                </a:solidFill>
              </a:rPr>
              <a:t>提案作成を</a:t>
            </a:r>
            <a:r>
              <a:rPr lang="en-US" sz="1600" dirty="0">
                <a:solidFill>
                  <a:schemeClr val="bg1"/>
                </a:solidFill>
              </a:rPr>
              <a:t> 1件あたり15時間 → 8時間 へ</a:t>
            </a:r>
            <a:endParaRPr lang="en-US" sz="1600" dirty="0"/>
          </a:p>
        </p:txBody>
      </p:sp>
      <p:sp>
        <p:nvSpPr>
          <p:cNvPr id="30" name="effect-2"/>
          <p:cNvSpPr/>
          <p:nvPr/>
        </p:nvSpPr>
        <p:spPr>
          <a:xfrm>
            <a:off x="6217920" y="4846320"/>
            <a:ext cx="5422392" cy="1325880"/>
          </a:xfrm>
          <a:prstGeom prst="roundRect">
            <a:avLst>
              <a:gd name="adj" fmla="val 5517"/>
            </a:avLst>
          </a:prstGeom>
          <a:solidFill>
            <a:schemeClr val="accent1">
              <a:lumMod val="40000"/>
              <a:lumOff val="60000"/>
            </a:schemeClr>
          </a:solidFill>
          <a:ln w="12700">
            <a:solidFill>
              <a:schemeClr val="accent1"/>
            </a:solidFill>
            <a:prstDash val="solid"/>
          </a:ln>
        </p:spPr>
      </p:sp>
      <p:sp>
        <p:nvSpPr>
          <p:cNvPr id="31" name="Text 29"/>
          <p:cNvSpPr txBox="1"/>
          <p:nvPr/>
        </p:nvSpPr>
        <p:spPr>
          <a:xfrm>
            <a:off x="6492240" y="4956048"/>
            <a:ext cx="4846320" cy="365760"/>
          </a:xfrm>
          <a:prstGeom prst="rect">
            <a:avLst/>
          </a:prstGeom>
          <a:noFill/>
          <a:ln/>
        </p:spPr>
        <p:txBody>
          <a:bodyPr wrap="square" lIns="0" tIns="0" rIns="0" bIns="0" rtlCol="0" anchor="t"/>
          <a:lstStyle/>
          <a:p>
            <a:pPr marL="0" indent="0">
              <a:buNone/>
            </a:pPr>
            <a:r>
              <a:rPr lang="en-US" sz="1800" b="1" dirty="0">
                <a:solidFill>
                  <a:schemeClr val="tx1"/>
                </a:solidFill>
              </a:rPr>
              <a:t>質の向上（仮説）</a:t>
            </a:r>
            <a:endParaRPr lang="en-US" sz="1800" dirty="0"/>
          </a:p>
        </p:txBody>
      </p:sp>
      <p:sp>
        <p:nvSpPr>
          <p:cNvPr id="32" name="Text 30"/>
          <p:cNvSpPr txBox="1"/>
          <p:nvPr/>
        </p:nvSpPr>
        <p:spPr>
          <a:xfrm>
            <a:off x="6492240" y="5394960"/>
            <a:ext cx="4846320" cy="685800"/>
          </a:xfrm>
          <a:prstGeom prst="rect">
            <a:avLst/>
          </a:prstGeom>
          <a:noFill/>
          <a:ln/>
        </p:spPr>
        <p:txBody>
          <a:bodyPr wrap="square" lIns="0" tIns="0" rIns="0" bIns="0" rtlCol="0" anchor="t"/>
          <a:lstStyle/>
          <a:p>
            <a:pPr marL="0" indent="0">
              <a:buNone/>
            </a:pPr>
            <a:r>
              <a:rPr lang="en-US" sz="1600" dirty="0">
                <a:solidFill>
                  <a:schemeClr val="tx1"/>
                </a:solidFill>
              </a:rPr>
              <a:t>過去事例の引用と外部情報の紐づけで提案の質を上げ、失注率の低下につなげる</a:t>
            </a:r>
            <a:endParaRPr lang="en-US" sz="1600" dirty="0"/>
          </a:p>
        </p:txBody>
      </p:sp>
      <p:sp>
        <p:nvSpPr>
          <p:cNvPr id="3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tx1"/>
                </a:solidFill>
              </a:rPr>
              <a:t>入力 → 処理 → 出力：すべて原文に遡れる</a:t>
            </a:r>
            <a:endParaRPr lang="en-US" sz="2800" dirty="0"/>
          </a:p>
        </p:txBody>
      </p:sp>
      <p:sp>
        <p:nvSpPr>
          <p:cNvPr id="3" name="ipo-head-1"/>
          <p:cNvSpPr/>
          <p:nvPr/>
        </p:nvSpPr>
        <p:spPr>
          <a:xfrm>
            <a:off x="548640" y="1371600"/>
            <a:ext cx="3383280" cy="640080"/>
          </a:xfrm>
          <a:prstGeom prst="roundRect">
            <a:avLst>
              <a:gd name="adj" fmla="val 11429"/>
            </a:avLst>
          </a:prstGeom>
          <a:solidFill>
            <a:schemeClr val="accent4"/>
          </a:solidFill>
          <a:ln w="12700">
            <a:solidFill>
              <a:schemeClr val="accent4"/>
            </a:solidFill>
            <a:prstDash val="solid"/>
          </a:ln>
        </p:spPr>
      </p:sp>
      <p:sp>
        <p:nvSpPr>
          <p:cNvPr id="4" name="Text 2"/>
          <p:cNvSpPr txBox="1"/>
          <p:nvPr/>
        </p:nvSpPr>
        <p:spPr>
          <a:xfrm>
            <a:off x="548640" y="1371600"/>
            <a:ext cx="3383280" cy="640080"/>
          </a:xfrm>
          <a:prstGeom prst="rect">
            <a:avLst/>
          </a:prstGeom>
          <a:noFill/>
          <a:ln/>
        </p:spPr>
        <p:txBody>
          <a:bodyPr wrap="square" lIns="0" tIns="0" rIns="0" bIns="0" rtlCol="0" anchor="ctr"/>
          <a:lstStyle/>
          <a:p>
            <a:pPr marL="0" indent="0" algn="ctr">
              <a:buNone/>
            </a:pPr>
            <a:r>
              <a:rPr lang="en-US" sz="2200" b="1" dirty="0">
                <a:solidFill>
                  <a:schemeClr val="bg1"/>
                </a:solidFill>
              </a:rPr>
              <a:t>入力</a:t>
            </a:r>
            <a:endParaRPr lang="en-US" sz="2200" dirty="0"/>
          </a:p>
        </p:txBody>
      </p:sp>
      <p:sp>
        <p:nvSpPr>
          <p:cNvPr id="5" name="ipo-body-1"/>
          <p:cNvSpPr/>
          <p:nvPr/>
        </p:nvSpPr>
        <p:spPr>
          <a:xfrm>
            <a:off x="548640" y="2011680"/>
            <a:ext cx="3383280" cy="3611880"/>
          </a:xfrm>
          <a:prstGeom prst="roundRect">
            <a:avLst>
              <a:gd name="adj" fmla="val 2162"/>
            </a:avLst>
          </a:prstGeom>
          <a:solidFill>
            <a:schemeClr val="bg2"/>
          </a:solidFill>
          <a:ln w="12700">
            <a:solidFill>
              <a:schemeClr val="bg2"/>
            </a:solidFill>
            <a:prstDash val="solid"/>
          </a:ln>
        </p:spPr>
      </p:sp>
      <p:sp>
        <p:nvSpPr>
          <p:cNvPr id="6" name="Text 4"/>
          <p:cNvSpPr txBox="1"/>
          <p:nvPr/>
        </p:nvSpPr>
        <p:spPr>
          <a:xfrm>
            <a:off x="731520" y="219456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【蓄積】日報・失注記録：選択式8項目＋必須5項目、自由記述は4観点だけ。CSV一括取込も可</a:t>
            </a:r>
            <a:endParaRPr lang="en-US" sz="1600" dirty="0"/>
          </a:p>
          <a:p>
            <a:pPr marL="342900" indent="-342900">
              <a:spcAft>
                <a:spcPts val="800"/>
              </a:spcAft>
              <a:buSzPct val="100000"/>
              <a:buChar char="•"/>
            </a:pPr>
            <a:r>
              <a:rPr lang="en-US" sz="1600" dirty="0">
                <a:solidFill>
                  <a:schemeClr val="tx1"/>
                </a:solidFill>
              </a:rPr>
              <a:t>【外部情報】補助金（Jグランツ）・法令（e-Gov）をAPIで取得</a:t>
            </a:r>
            <a:endParaRPr lang="en-US" sz="1600" dirty="0"/>
          </a:p>
          <a:p>
            <a:pPr marL="342900" indent="-342900">
              <a:spcAft>
                <a:spcPts val="800"/>
              </a:spcAft>
              <a:buSzPct val="100000"/>
              <a:buChar char="•"/>
            </a:pPr>
            <a:r>
              <a:rPr lang="en-US" sz="1600" dirty="0">
                <a:solidFill>
                  <a:schemeClr val="tx1"/>
                </a:solidFill>
              </a:rPr>
              <a:t>【利用時】営業が新規案件の条件（業種・機種・課題・規模・所在地・競合）を入力</a:t>
            </a:r>
            <a:endParaRPr lang="en-US" sz="1600" dirty="0"/>
          </a:p>
        </p:txBody>
      </p:sp>
      <p:sp>
        <p:nvSpPr>
          <p:cNvPr id="7" name="Text 5"/>
          <p:cNvSpPr txBox="1"/>
          <p:nvPr/>
        </p:nvSpPr>
        <p:spPr>
          <a:xfrm>
            <a:off x="3931920" y="3383280"/>
            <a:ext cx="457200" cy="457200"/>
          </a:xfrm>
          <a:prstGeom prst="rect">
            <a:avLst/>
          </a:prstGeom>
          <a:noFill/>
          <a:ln/>
        </p:spPr>
        <p:txBody>
          <a:bodyPr wrap="square" lIns="0" tIns="0" rIns="0" bIns="0" rtlCol="0" anchor="ctr"/>
          <a:lstStyle/>
          <a:p>
            <a:pPr marL="0" indent="0" algn="ctr">
              <a:buNone/>
            </a:pPr>
            <a:r>
              <a:rPr lang="en-US" sz="2000" dirty="0">
                <a:solidFill>
                  <a:schemeClr val="accent1"/>
                </a:solidFill>
              </a:rPr>
              <a:t>▶</a:t>
            </a:r>
            <a:endParaRPr lang="en-US" sz="2000" dirty="0"/>
          </a:p>
        </p:txBody>
      </p:sp>
      <p:sp>
        <p:nvSpPr>
          <p:cNvPr id="8" name="ipo-head-2"/>
          <p:cNvSpPr/>
          <p:nvPr/>
        </p:nvSpPr>
        <p:spPr>
          <a:xfrm>
            <a:off x="4389120" y="1371600"/>
            <a:ext cx="3383280" cy="640080"/>
          </a:xfrm>
          <a:prstGeom prst="roundRect">
            <a:avLst>
              <a:gd name="adj" fmla="val 11429"/>
            </a:avLst>
          </a:prstGeom>
          <a:solidFill>
            <a:schemeClr val="accent1"/>
          </a:solidFill>
          <a:ln w="12700">
            <a:solidFill>
              <a:schemeClr val="accent1"/>
            </a:solidFill>
            <a:prstDash val="solid"/>
          </a:ln>
        </p:spPr>
      </p:sp>
      <p:sp>
        <p:nvSpPr>
          <p:cNvPr id="9" name="Text 7"/>
          <p:cNvSpPr txBox="1"/>
          <p:nvPr/>
        </p:nvSpPr>
        <p:spPr>
          <a:xfrm>
            <a:off x="4389120" y="1371600"/>
            <a:ext cx="3383280" cy="640080"/>
          </a:xfrm>
          <a:prstGeom prst="rect">
            <a:avLst/>
          </a:prstGeom>
          <a:noFill/>
          <a:ln/>
        </p:spPr>
        <p:txBody>
          <a:bodyPr wrap="square" lIns="0" tIns="0" rIns="0" bIns="0" rtlCol="0" anchor="ctr"/>
          <a:lstStyle/>
          <a:p>
            <a:pPr marL="0" indent="0" algn="ctr">
              <a:buNone/>
            </a:pPr>
            <a:r>
              <a:rPr lang="en-US" sz="2200" b="1" dirty="0">
                <a:solidFill>
                  <a:schemeClr val="bg1"/>
                </a:solidFill>
              </a:rPr>
              <a:t>処理</a:t>
            </a:r>
            <a:endParaRPr lang="en-US" sz="2200" dirty="0"/>
          </a:p>
        </p:txBody>
      </p:sp>
      <p:sp>
        <p:nvSpPr>
          <p:cNvPr id="10" name="ipo-body-2"/>
          <p:cNvSpPr/>
          <p:nvPr/>
        </p:nvSpPr>
        <p:spPr>
          <a:xfrm>
            <a:off x="4389120" y="2011680"/>
            <a:ext cx="3383280" cy="3611880"/>
          </a:xfrm>
          <a:prstGeom prst="roundRect">
            <a:avLst>
              <a:gd name="adj" fmla="val 2162"/>
            </a:avLst>
          </a:prstGeom>
          <a:solidFill>
            <a:schemeClr val="bg2"/>
          </a:solidFill>
          <a:ln w="12700">
            <a:solidFill>
              <a:schemeClr val="bg2"/>
            </a:solidFill>
            <a:prstDash val="solid"/>
          </a:ln>
        </p:spPr>
      </p:sp>
      <p:sp>
        <p:nvSpPr>
          <p:cNvPr id="11" name="Text 9"/>
          <p:cNvSpPr txBox="1"/>
          <p:nvPr/>
        </p:nvSpPr>
        <p:spPr>
          <a:xfrm>
            <a:off x="4572000" y="219456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原文のままSQLiteに保存し、メタデータを付与</a:t>
            </a:r>
            <a:endParaRPr lang="en-US" sz="1600" dirty="0"/>
          </a:p>
          <a:p>
            <a:pPr marL="342900" indent="-342900">
              <a:spcAft>
                <a:spcPts val="800"/>
              </a:spcAft>
              <a:buSzPct val="100000"/>
              <a:buChar char="•"/>
            </a:pPr>
            <a:r>
              <a:rPr lang="en-US" sz="1600" dirty="0">
                <a:solidFill>
                  <a:schemeClr val="tx1"/>
                </a:solidFill>
              </a:rPr>
              <a:t>類似度 ＝ 文章の近さ0.6 ＋ 条件一致0.25 ＋ 全文一致0.15</a:t>
            </a:r>
            <a:endParaRPr lang="en-US" sz="1600" dirty="0"/>
          </a:p>
          <a:p>
            <a:pPr marL="342900" indent="-342900">
              <a:spcAft>
                <a:spcPts val="800"/>
              </a:spcAft>
              <a:buSzPct val="100000"/>
              <a:buChar char="•"/>
            </a:pPr>
            <a:r>
              <a:rPr lang="en-US" sz="1600" dirty="0">
                <a:solidFill>
                  <a:schemeClr val="tx1"/>
                </a:solidFill>
              </a:rPr>
              <a:t>受注・失注の要因カテゴリを取り出して比較</a:t>
            </a:r>
            <a:endParaRPr lang="en-US" sz="1600" dirty="0"/>
          </a:p>
          <a:p>
            <a:pPr marL="342900" indent="-342900">
              <a:spcAft>
                <a:spcPts val="800"/>
              </a:spcAft>
              <a:buSzPct val="100000"/>
              <a:buChar char="•"/>
            </a:pPr>
            <a:r>
              <a:rPr lang="en-US" sz="1600" dirty="0">
                <a:solidFill>
                  <a:schemeClr val="tx1"/>
                </a:solidFill>
              </a:rPr>
              <a:t>条件を辞書ルールで検索語に変換し、補助金・法令を照合・適格性を判定</a:t>
            </a:r>
            <a:endParaRPr lang="en-US" sz="1600" dirty="0"/>
          </a:p>
        </p:txBody>
      </p:sp>
      <p:sp>
        <p:nvSpPr>
          <p:cNvPr id="12" name="Text 10"/>
          <p:cNvSpPr txBox="1"/>
          <p:nvPr/>
        </p:nvSpPr>
        <p:spPr>
          <a:xfrm>
            <a:off x="7772400" y="3383280"/>
            <a:ext cx="457200" cy="457200"/>
          </a:xfrm>
          <a:prstGeom prst="rect">
            <a:avLst/>
          </a:prstGeom>
          <a:noFill/>
          <a:ln/>
        </p:spPr>
        <p:txBody>
          <a:bodyPr wrap="square" lIns="0" tIns="0" rIns="0" bIns="0" rtlCol="0" anchor="ctr"/>
          <a:lstStyle/>
          <a:p>
            <a:pPr marL="0" indent="0" algn="ctr">
              <a:buNone/>
            </a:pPr>
            <a:r>
              <a:rPr lang="en-US" sz="2000" dirty="0">
                <a:solidFill>
                  <a:schemeClr val="accent1"/>
                </a:solidFill>
              </a:rPr>
              <a:t>▶</a:t>
            </a:r>
            <a:endParaRPr lang="en-US" sz="2000" dirty="0"/>
          </a:p>
        </p:txBody>
      </p:sp>
      <p:sp>
        <p:nvSpPr>
          <p:cNvPr id="13" name="ipo-head-3"/>
          <p:cNvSpPr/>
          <p:nvPr/>
        </p:nvSpPr>
        <p:spPr>
          <a:xfrm>
            <a:off x="8229600" y="1371600"/>
            <a:ext cx="3383280" cy="640080"/>
          </a:xfrm>
          <a:prstGeom prst="roundRect">
            <a:avLst>
              <a:gd name="adj" fmla="val 11429"/>
            </a:avLst>
          </a:prstGeom>
          <a:solidFill>
            <a:schemeClr val="tx2"/>
          </a:solidFill>
          <a:ln w="12700">
            <a:solidFill>
              <a:schemeClr val="tx2"/>
            </a:solidFill>
            <a:prstDash val="solid"/>
          </a:ln>
        </p:spPr>
      </p:sp>
      <p:sp>
        <p:nvSpPr>
          <p:cNvPr id="14" name="Text 12"/>
          <p:cNvSpPr txBox="1"/>
          <p:nvPr/>
        </p:nvSpPr>
        <p:spPr>
          <a:xfrm>
            <a:off x="8229600" y="1371600"/>
            <a:ext cx="3383280" cy="640080"/>
          </a:xfrm>
          <a:prstGeom prst="rect">
            <a:avLst/>
          </a:prstGeom>
          <a:noFill/>
          <a:ln/>
        </p:spPr>
        <p:txBody>
          <a:bodyPr wrap="square" lIns="0" tIns="0" rIns="0" bIns="0" rtlCol="0" anchor="ctr"/>
          <a:lstStyle/>
          <a:p>
            <a:pPr marL="0" indent="0" algn="ctr">
              <a:buNone/>
            </a:pPr>
            <a:r>
              <a:rPr lang="en-US" sz="2200" b="1" dirty="0">
                <a:solidFill>
                  <a:schemeClr val="bg1"/>
                </a:solidFill>
              </a:rPr>
              <a:t>出力</a:t>
            </a:r>
            <a:endParaRPr lang="en-US" sz="2200" dirty="0"/>
          </a:p>
        </p:txBody>
      </p:sp>
      <p:sp>
        <p:nvSpPr>
          <p:cNvPr id="15" name="ipo-body-3"/>
          <p:cNvSpPr/>
          <p:nvPr/>
        </p:nvSpPr>
        <p:spPr>
          <a:xfrm>
            <a:off x="8229600" y="2011680"/>
            <a:ext cx="3383280" cy="3611880"/>
          </a:xfrm>
          <a:prstGeom prst="roundRect">
            <a:avLst>
              <a:gd name="adj" fmla="val 2162"/>
            </a:avLst>
          </a:prstGeom>
          <a:solidFill>
            <a:schemeClr val="bg2"/>
          </a:solidFill>
          <a:ln w="12700">
            <a:solidFill>
              <a:schemeClr val="bg2"/>
            </a:solidFill>
            <a:prstDash val="solid"/>
          </a:ln>
        </p:spPr>
      </p:sp>
      <p:sp>
        <p:nvSpPr>
          <p:cNvPr id="16" name="Text 14"/>
          <p:cNvSpPr txBox="1"/>
          <p:nvPr/>
        </p:nvSpPr>
        <p:spPr>
          <a:xfrm>
            <a:off x="8412480" y="219456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類似案件の一覧（受注と失注を左右に並べて表示）</a:t>
            </a:r>
            <a:endParaRPr lang="en-US" sz="1600" dirty="0"/>
          </a:p>
          <a:p>
            <a:pPr marL="342900" indent="-342900">
              <a:spcAft>
                <a:spcPts val="800"/>
              </a:spcAft>
              <a:buSzPct val="100000"/>
              <a:buChar char="•"/>
            </a:pPr>
            <a:r>
              <a:rPr lang="en-US" sz="1600" dirty="0">
                <a:solidFill>
                  <a:schemeClr val="tx1"/>
                </a:solidFill>
              </a:rPr>
              <a:t>受注と失注の違い、要因、次に考えるべき問い（原文リンク付き）</a:t>
            </a:r>
            <a:endParaRPr lang="en-US" sz="1600" dirty="0"/>
          </a:p>
          <a:p>
            <a:pPr marL="342900" indent="-342900">
              <a:spcAft>
                <a:spcPts val="800"/>
              </a:spcAft>
              <a:buSzPct val="100000"/>
              <a:buChar char="•"/>
            </a:pPr>
            <a:r>
              <a:rPr lang="en-US" sz="1600" dirty="0">
                <a:solidFill>
                  <a:schemeClr val="tx1"/>
                </a:solidFill>
              </a:rPr>
              <a:t>補助金・法令（理由・適格性・出典・取得日つき）</a:t>
            </a:r>
            <a:endParaRPr lang="en-US" sz="1600" dirty="0"/>
          </a:p>
        </p:txBody>
      </p:sp>
      <p:sp>
        <p:nvSpPr>
          <p:cNvPr id="17" name="ipo-bottom"/>
          <p:cNvSpPr/>
          <p:nvPr/>
        </p:nvSpPr>
        <p:spPr>
          <a:xfrm>
            <a:off x="548640" y="5760720"/>
            <a:ext cx="11094415" cy="548640"/>
          </a:xfrm>
          <a:prstGeom prst="roundRect">
            <a:avLst>
              <a:gd name="adj" fmla="val 13333"/>
            </a:avLst>
          </a:prstGeom>
          <a:solidFill>
            <a:schemeClr val="tx1"/>
          </a:solidFill>
          <a:ln w="12700">
            <a:solidFill>
              <a:schemeClr val="tx1"/>
            </a:solidFill>
            <a:prstDash val="solid"/>
          </a:ln>
        </p:spPr>
      </p:sp>
      <p:sp>
        <p:nvSpPr>
          <p:cNvPr id="18" name="Text 16"/>
          <p:cNvSpPr txBox="1"/>
          <p:nvPr/>
        </p:nvSpPr>
        <p:spPr>
          <a:xfrm>
            <a:off x="548640" y="5760720"/>
            <a:ext cx="11094415" cy="548640"/>
          </a:xfrm>
          <a:prstGeom prst="rect">
            <a:avLst/>
          </a:prstGeom>
          <a:noFill/>
          <a:ln/>
        </p:spPr>
        <p:txBody>
          <a:bodyPr wrap="square" lIns="0" tIns="0" rIns="0" bIns="0" rtlCol="0" anchor="ctr"/>
          <a:lstStyle/>
          <a:p>
            <a:pPr marL="0" indent="0" algn="ctr">
              <a:buNone/>
            </a:pPr>
            <a:r>
              <a:rPr lang="en-US" sz="1800" b="1" dirty="0">
                <a:solidFill>
                  <a:schemeClr val="bg1"/>
                </a:solidFill>
              </a:rPr>
              <a:t>営業は、ゼロからではなく「材料が揃った状態」から提案書を書き始める</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tx1"/>
                </a:solidFill>
              </a:rPr>
              <a:t>課題 → 機能 → 技術をつなぐ。AIは「使わない」と判断した</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2611817085"/>
              </p:ext>
            </p:extLst>
          </p:nvPr>
        </p:nvGraphicFramePr>
        <p:xfrm>
          <a:off x="548640" y="1325880"/>
          <a:ext cx="11091672" cy="2898648"/>
        </p:xfrm>
        <a:graphic>
          <a:graphicData uri="http://schemas.openxmlformats.org/drawingml/2006/table">
            <a:tbl>
              <a:tblPr/>
              <a:tblGrid>
                <a:gridCol w="23774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FFFFFF"/>
                          </a:solidFill>
                        </a:rPr>
                        <a:t>課題</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B2A38"/>
                    </a:solidFill>
                  </a:tcPr>
                </a:tc>
                <a:tc>
                  <a:txBody>
                    <a:bodyPr/>
                    <a:lstStyle/>
                    <a:p>
                      <a:pPr marL="0" indent="0">
                        <a:buNone/>
                      </a:pPr>
                      <a:r>
                        <a:rPr lang="en-US" sz="1400" b="1" dirty="0">
                          <a:solidFill>
                            <a:srgbClr val="FFFFFF"/>
                          </a:solidFill>
                        </a:rPr>
                        <a:t>機能</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B2A38"/>
                    </a:solidFill>
                  </a:tcPr>
                </a:tc>
                <a:tc>
                  <a:txBody>
                    <a:bodyPr/>
                    <a:lstStyle/>
                    <a:p>
                      <a:pPr marL="0" indent="0">
                        <a:buNone/>
                      </a:pPr>
                      <a:r>
                        <a:rPr lang="en-US" sz="1400" b="1" dirty="0">
                          <a:solidFill>
                            <a:srgbClr val="FFFFFF"/>
                          </a:solidFill>
                        </a:rPr>
                        <a:t>技術</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B2A38"/>
                    </a:solidFill>
                  </a:tcPr>
                </a:tc>
                <a:tc>
                  <a:txBody>
                    <a:bodyPr/>
                    <a:lstStyle/>
                    <a:p>
                      <a:pPr marL="0" indent="0">
                        <a:buNone/>
                      </a:pPr>
                      <a:r>
                        <a:rPr lang="en-US" sz="1400" b="1" dirty="0">
                          <a:solidFill>
                            <a:srgbClr val="FFFFFF"/>
                          </a:solidFill>
                        </a:rPr>
                        <a:t>この選択の理由</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B2A38"/>
                    </a:solidFill>
                  </a:tcPr>
                </a:tc>
                <a:extLst>
                  <a:ext uri="{0D108BD9-81ED-4DB2-BD59-A6C34878D82A}">
                    <a16:rowId xmlns:a16="http://schemas.microsoft.com/office/drawing/2014/main" val="10000"/>
                  </a:ext>
                </a:extLst>
              </a:tr>
              <a:tr h="621792">
                <a:tc>
                  <a:txBody>
                    <a:bodyPr/>
                    <a:lstStyle/>
                    <a:p>
                      <a:pPr marL="0" indent="0">
                        <a:buNone/>
                      </a:pPr>
                      <a:r>
                        <a:rPr lang="en-US" sz="1400" b="1" dirty="0">
                          <a:solidFill>
                            <a:srgbClr val="1B2A38"/>
                          </a:solidFill>
                        </a:rPr>
                        <a:t>過去案件を探せない</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a:solidFill>
                            <a:srgbClr val="1B2A38"/>
                          </a:solidFill>
                        </a:rPr>
                        <a:t>類似案件抽出</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a:solidFill>
                            <a:srgbClr val="1B2A38"/>
                          </a:solidFill>
                        </a:rPr>
                        <a:t>TF-IDF＋項目一致＋全文検索（SQLite FTS5）</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err="1">
                          <a:solidFill>
                            <a:srgbClr val="1B2A38"/>
                          </a:solidFill>
                        </a:rPr>
                        <a:t>無料・高速</a:t>
                      </a:r>
                      <a:endParaRPr lang="en-US" sz="1400" dirty="0">
                        <a:solidFill>
                          <a:srgbClr val="1B2A38"/>
                        </a:solidFill>
                      </a:endParaRPr>
                    </a:p>
                    <a:p>
                      <a:pPr marL="0" indent="0">
                        <a:buNone/>
                      </a:pPr>
                      <a:r>
                        <a:rPr lang="en-US" sz="1400" dirty="0" err="1">
                          <a:solidFill>
                            <a:srgbClr val="1B2A38"/>
                          </a:solidFill>
                        </a:rPr>
                        <a:t>なぜ上位かを説明できる</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extLst>
                  <a:ext uri="{0D108BD9-81ED-4DB2-BD59-A6C34878D82A}">
                    <a16:rowId xmlns:a16="http://schemas.microsoft.com/office/drawing/2014/main" val="10001"/>
                  </a:ext>
                </a:extLst>
              </a:tr>
              <a:tr h="621792">
                <a:tc>
                  <a:txBody>
                    <a:bodyPr/>
                    <a:lstStyle/>
                    <a:p>
                      <a:pPr marL="0" indent="0">
                        <a:buNone/>
                      </a:pPr>
                      <a:r>
                        <a:rPr lang="en-US" sz="1400" b="1" dirty="0">
                          <a:solidFill>
                            <a:srgbClr val="1B2A38"/>
                          </a:solidFill>
                        </a:rPr>
                        <a:t>勝敗の真因が分からない</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成功・失敗要因の表示</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要因カテゴリ＋原文リンク</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入力済みの事実をそのまま出し、根拠を確認できる</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400" b="1" dirty="0">
                          <a:solidFill>
                            <a:srgbClr val="1B2A38"/>
                          </a:solidFill>
                        </a:rPr>
                        <a:t>規制・補助金を調べ直す</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a:solidFill>
                            <a:srgbClr val="1B2A38"/>
                          </a:solidFill>
                        </a:rPr>
                        <a:t>提案材料の抽出</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a:solidFill>
                            <a:srgbClr val="1B2A38"/>
                          </a:solidFill>
                        </a:rPr>
                        <a:t>辞書ルール＋公式API（Jグランツ・e-Gov）</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a:solidFill>
                            <a:srgbClr val="1B2A38"/>
                          </a:solidFill>
                        </a:rPr>
                        <a:t>架空の制度を出さず、理由を毎回説明できる</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extLst>
                  <a:ext uri="{0D108BD9-81ED-4DB2-BD59-A6C34878D82A}">
                    <a16:rowId xmlns:a16="http://schemas.microsoft.com/office/drawing/2014/main" val="10003"/>
                  </a:ext>
                </a:extLst>
              </a:tr>
              <a:tr h="621792">
                <a:tc>
                  <a:txBody>
                    <a:bodyPr/>
                    <a:lstStyle/>
                    <a:p>
                      <a:pPr marL="0" indent="0">
                        <a:buNone/>
                      </a:pPr>
                      <a:r>
                        <a:rPr lang="en-US" sz="1400" b="1" dirty="0">
                          <a:solidFill>
                            <a:srgbClr val="1B2A38"/>
                          </a:solidFill>
                        </a:rPr>
                        <a:t>入力されず蓄積が進まない</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過去案件の登録・CSV取込</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選択式8項目＋4観点テンプレ</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入力負荷を下げ、表記のばらつきを防ぐ</a:t>
                      </a:r>
                      <a:endParaRPr lang="en-US" sz="1400" dirty="0"/>
                    </a:p>
                  </a:txBody>
                  <a:tcPr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no-ai-card"/>
          <p:cNvSpPr/>
          <p:nvPr/>
        </p:nvSpPr>
        <p:spPr>
          <a:xfrm>
            <a:off x="548640" y="4434840"/>
            <a:ext cx="6949440" cy="1828800"/>
          </a:xfrm>
          <a:prstGeom prst="roundRect">
            <a:avLst>
              <a:gd name="adj" fmla="val 4000"/>
            </a:avLst>
          </a:prstGeom>
          <a:solidFill>
            <a:schemeClr val="tx1"/>
          </a:solidFill>
          <a:ln w="12700">
            <a:solidFill>
              <a:schemeClr val="tx1"/>
            </a:solidFill>
            <a:prstDash val="solid"/>
          </a:ln>
        </p:spPr>
      </p:sp>
      <p:sp>
        <p:nvSpPr>
          <p:cNvPr id="5" name="Text 2"/>
          <p:cNvSpPr txBox="1"/>
          <p:nvPr/>
        </p:nvSpPr>
        <p:spPr>
          <a:xfrm>
            <a:off x="822960" y="4544568"/>
            <a:ext cx="6400800" cy="365760"/>
          </a:xfrm>
          <a:prstGeom prst="rect">
            <a:avLst/>
          </a:prstGeom>
          <a:noFill/>
          <a:ln/>
        </p:spPr>
        <p:txBody>
          <a:bodyPr wrap="square" lIns="0" tIns="0" rIns="0" bIns="0" rtlCol="0" anchor="t"/>
          <a:lstStyle/>
          <a:p>
            <a:pPr marL="0" indent="0">
              <a:buNone/>
            </a:pPr>
            <a:r>
              <a:rPr lang="en-US" sz="1800" b="1" dirty="0">
                <a:solidFill>
                  <a:schemeClr val="accent6"/>
                </a:solidFill>
              </a:rPr>
              <a:t>「ここにAIは要らない」と判断した理由</a:t>
            </a:r>
            <a:endParaRPr lang="en-US" sz="1800" dirty="0"/>
          </a:p>
        </p:txBody>
      </p:sp>
      <p:sp>
        <p:nvSpPr>
          <p:cNvPr id="3" name="Text 3"/>
          <p:cNvSpPr txBox="1"/>
          <p:nvPr/>
        </p:nvSpPr>
        <p:spPr>
          <a:xfrm>
            <a:off x="822960" y="4983480"/>
            <a:ext cx="6400800" cy="12344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1"/>
                </a:solidFill>
              </a:rPr>
              <a:t>営業が信じて使うには、結果の根拠を原文で確認できることが必須</a:t>
            </a:r>
            <a:endParaRPr lang="en-US" sz="1500" dirty="0"/>
          </a:p>
          <a:p>
            <a:pPr marL="342900" indent="-342900">
              <a:spcAft>
                <a:spcPts val="400"/>
              </a:spcAft>
              <a:buSzPct val="100000"/>
              <a:buChar char="•"/>
            </a:pPr>
            <a:r>
              <a:rPr lang="en-US" sz="1500" dirty="0">
                <a:solidFill>
                  <a:schemeClr val="bg1"/>
                </a:solidFill>
              </a:rPr>
              <a:t>補助金・法令は誤情報が許されない。根拠を再現できるルール方式を選択</a:t>
            </a:r>
            <a:endParaRPr lang="en-US" sz="1500" dirty="0"/>
          </a:p>
          <a:p>
            <a:pPr marL="342900" indent="-342900">
              <a:spcAft>
                <a:spcPts val="400"/>
              </a:spcAft>
              <a:buSzPct val="100000"/>
              <a:buChar char="•"/>
            </a:pPr>
            <a:r>
              <a:rPr lang="en-US" sz="1500" dirty="0">
                <a:solidFill>
                  <a:schemeClr val="bg1"/>
                </a:solidFill>
              </a:rPr>
              <a:t>数百〜数千件ならTF-IDFで十分。無料で、社外へ情報も出さない</a:t>
            </a:r>
            <a:endParaRPr lang="en-US" sz="1500" dirty="0"/>
          </a:p>
        </p:txBody>
      </p:sp>
      <p:sp>
        <p:nvSpPr>
          <p:cNvPr id="7" name="ai-final-card"/>
          <p:cNvSpPr/>
          <p:nvPr/>
        </p:nvSpPr>
        <p:spPr>
          <a:xfrm>
            <a:off x="7772400" y="4434840"/>
            <a:ext cx="3867912" cy="1828800"/>
          </a:xfrm>
          <a:prstGeom prst="roundRect">
            <a:avLst>
              <a:gd name="adj" fmla="val 4000"/>
            </a:avLst>
          </a:prstGeom>
          <a:solidFill>
            <a:schemeClr val="bg2"/>
          </a:solidFill>
          <a:ln w="12700">
            <a:solidFill>
              <a:schemeClr val="bg2"/>
            </a:solidFill>
            <a:prstDash val="solid"/>
          </a:ln>
        </p:spPr>
      </p:sp>
      <p:sp>
        <p:nvSpPr>
          <p:cNvPr id="8" name="Text 5"/>
          <p:cNvSpPr txBox="1"/>
          <p:nvPr/>
        </p:nvSpPr>
        <p:spPr>
          <a:xfrm>
            <a:off x="8001000" y="4544568"/>
            <a:ext cx="3474720" cy="365760"/>
          </a:xfrm>
          <a:prstGeom prst="rect">
            <a:avLst/>
          </a:prstGeom>
          <a:noFill/>
          <a:ln/>
        </p:spPr>
        <p:txBody>
          <a:bodyPr wrap="square" lIns="0" tIns="0" rIns="0" bIns="0" rtlCol="0" anchor="t"/>
          <a:lstStyle/>
          <a:p>
            <a:pPr marL="0" indent="0">
              <a:buNone/>
            </a:pPr>
            <a:r>
              <a:rPr lang="en-US" sz="1800" b="1" dirty="0">
                <a:solidFill>
                  <a:schemeClr val="accent1"/>
                </a:solidFill>
              </a:rPr>
              <a:t>AIは最終形で使う</a:t>
            </a:r>
            <a:endParaRPr lang="en-US" sz="1800" dirty="0"/>
          </a:p>
        </p:txBody>
      </p:sp>
      <p:sp>
        <p:nvSpPr>
          <p:cNvPr id="9" name="Text 6"/>
          <p:cNvSpPr txBox="1"/>
          <p:nvPr/>
        </p:nvSpPr>
        <p:spPr>
          <a:xfrm>
            <a:off x="8001000" y="4983480"/>
            <a:ext cx="3474720" cy="1234440"/>
          </a:xfrm>
          <a:prstGeom prst="rect">
            <a:avLst/>
          </a:prstGeom>
          <a:noFill/>
          <a:ln/>
        </p:spPr>
        <p:txBody>
          <a:bodyPr wrap="square" lIns="0" tIns="0" rIns="0" bIns="0" rtlCol="0" anchor="t"/>
          <a:lstStyle/>
          <a:p>
            <a:pPr marL="0" indent="0">
              <a:buNone/>
            </a:pPr>
            <a:r>
              <a:rPr lang="en-US" sz="1500" dirty="0">
                <a:solidFill>
                  <a:schemeClr val="tx1"/>
                </a:solidFill>
              </a:rPr>
              <a:t>大量文書から成功・失敗要因を分析・要約し、候補を高速に出す役割（外部LLM API）。言い換えにも強くなる。</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bg1"/>
                </a:solidFill>
              </a:rPr>
              <a:t>デモ：新規案件の提案準備を、数分で</a:t>
            </a:r>
            <a:endParaRPr lang="en-US" sz="2800" dirty="0"/>
          </a:p>
        </p:txBody>
      </p:sp>
      <p:sp>
        <p:nvSpPr>
          <p:cNvPr id="3" name="demo-step-1"/>
          <p:cNvSpPr/>
          <p:nvPr/>
        </p:nvSpPr>
        <p:spPr>
          <a:xfrm>
            <a:off x="548640" y="1371600"/>
            <a:ext cx="7040880" cy="1234440"/>
          </a:xfrm>
          <a:prstGeom prst="roundRect">
            <a:avLst>
              <a:gd name="adj" fmla="val 5926"/>
            </a:avLst>
          </a:prstGeom>
          <a:solidFill>
            <a:schemeClr val="tx2"/>
          </a:solidFill>
          <a:ln w="12700">
            <a:solidFill>
              <a:schemeClr val="tx2"/>
            </a:solidFill>
            <a:prstDash val="solid"/>
          </a:ln>
        </p:spPr>
      </p:sp>
      <p:sp>
        <p:nvSpPr>
          <p:cNvPr id="4" name="Text 2"/>
          <p:cNvSpPr txBox="1"/>
          <p:nvPr/>
        </p:nvSpPr>
        <p:spPr>
          <a:xfrm>
            <a:off x="822960" y="1508760"/>
            <a:ext cx="4754880" cy="365760"/>
          </a:xfrm>
          <a:prstGeom prst="rect">
            <a:avLst/>
          </a:prstGeom>
          <a:noFill/>
          <a:ln/>
        </p:spPr>
        <p:txBody>
          <a:bodyPr wrap="square" lIns="0" tIns="0" rIns="0" bIns="0" rtlCol="0" anchor="t"/>
          <a:lstStyle/>
          <a:p>
            <a:pPr marL="0" indent="0">
              <a:buNone/>
            </a:pPr>
            <a:r>
              <a:rPr lang="en-US" sz="1900" b="1" dirty="0">
                <a:solidFill>
                  <a:schemeClr val="bg1"/>
                </a:solidFill>
              </a:rPr>
              <a:t>① 類似案件検索</a:t>
            </a:r>
            <a:endParaRPr lang="en-US" sz="1900" dirty="0"/>
          </a:p>
        </p:txBody>
      </p:sp>
      <p:sp>
        <p:nvSpPr>
          <p:cNvPr id="6" name="Text 4"/>
          <p:cNvSpPr txBox="1"/>
          <p:nvPr/>
        </p:nvSpPr>
        <p:spPr>
          <a:xfrm>
            <a:off x="822960" y="1920240"/>
            <a:ext cx="6492240" cy="658368"/>
          </a:xfrm>
          <a:prstGeom prst="rect">
            <a:avLst/>
          </a:prstGeom>
          <a:noFill/>
          <a:ln/>
        </p:spPr>
        <p:txBody>
          <a:bodyPr wrap="square" lIns="0" tIns="0" rIns="0" bIns="0" rtlCol="0" anchor="t"/>
          <a:lstStyle/>
          <a:p>
            <a:pPr marL="0" indent="0">
              <a:buNone/>
            </a:pPr>
            <a:r>
              <a:rPr lang="en-US" sz="1500" dirty="0">
                <a:solidFill>
                  <a:schemeClr val="bg1"/>
                </a:solidFill>
              </a:rPr>
              <a:t>課題＝人手不足・省人化、機種＝横形マシニングセンタを選んで検索。受注（左）と失注（右）が並ぶ</a:t>
            </a:r>
            <a:endParaRPr lang="en-US" sz="1500" dirty="0"/>
          </a:p>
        </p:txBody>
      </p:sp>
      <p:sp>
        <p:nvSpPr>
          <p:cNvPr id="7" name="demo-step-2"/>
          <p:cNvSpPr/>
          <p:nvPr/>
        </p:nvSpPr>
        <p:spPr>
          <a:xfrm>
            <a:off x="548640" y="2743200"/>
            <a:ext cx="7040880" cy="1234440"/>
          </a:xfrm>
          <a:prstGeom prst="roundRect">
            <a:avLst>
              <a:gd name="adj" fmla="val 5926"/>
            </a:avLst>
          </a:prstGeom>
          <a:solidFill>
            <a:schemeClr val="tx2"/>
          </a:solidFill>
          <a:ln w="12700">
            <a:solidFill>
              <a:schemeClr val="tx2"/>
            </a:solidFill>
            <a:prstDash val="solid"/>
          </a:ln>
        </p:spPr>
      </p:sp>
      <p:sp>
        <p:nvSpPr>
          <p:cNvPr id="8" name="Text 6"/>
          <p:cNvSpPr txBox="1"/>
          <p:nvPr/>
        </p:nvSpPr>
        <p:spPr>
          <a:xfrm>
            <a:off x="822960" y="2880360"/>
            <a:ext cx="4754880" cy="365760"/>
          </a:xfrm>
          <a:prstGeom prst="rect">
            <a:avLst/>
          </a:prstGeom>
          <a:noFill/>
          <a:ln/>
        </p:spPr>
        <p:txBody>
          <a:bodyPr wrap="square" lIns="0" tIns="0" rIns="0" bIns="0" rtlCol="0" anchor="t"/>
          <a:lstStyle/>
          <a:p>
            <a:pPr marL="0" indent="0">
              <a:buNone/>
            </a:pPr>
            <a:r>
              <a:rPr lang="en-US" sz="1900" b="1" dirty="0">
                <a:solidFill>
                  <a:schemeClr val="bg1"/>
                </a:solidFill>
              </a:rPr>
              <a:t>② 受注と失注の違い</a:t>
            </a:r>
            <a:endParaRPr lang="en-US" sz="1900" dirty="0"/>
          </a:p>
        </p:txBody>
      </p:sp>
      <p:sp>
        <p:nvSpPr>
          <p:cNvPr id="10" name="Text 8"/>
          <p:cNvSpPr txBox="1"/>
          <p:nvPr/>
        </p:nvSpPr>
        <p:spPr>
          <a:xfrm>
            <a:off x="822960" y="3291840"/>
            <a:ext cx="6492240" cy="658368"/>
          </a:xfrm>
          <a:prstGeom prst="rect">
            <a:avLst/>
          </a:prstGeom>
          <a:noFill/>
          <a:ln/>
        </p:spPr>
        <p:txBody>
          <a:bodyPr wrap="square" lIns="0" tIns="0" rIns="0" bIns="0" rtlCol="0" anchor="t"/>
          <a:lstStyle/>
          <a:p>
            <a:pPr marL="0" indent="0">
              <a:buNone/>
            </a:pPr>
            <a:r>
              <a:rPr lang="en-US" sz="1500" dirty="0">
                <a:solidFill>
                  <a:schemeClr val="bg1"/>
                </a:solidFill>
              </a:rPr>
              <a:t>違う項目をハイライト。「原文を見る」で日報の根拠まで確認する</a:t>
            </a:r>
            <a:endParaRPr lang="en-US" sz="1500" dirty="0"/>
          </a:p>
        </p:txBody>
      </p:sp>
      <p:sp>
        <p:nvSpPr>
          <p:cNvPr id="11" name="demo-step-3"/>
          <p:cNvSpPr/>
          <p:nvPr/>
        </p:nvSpPr>
        <p:spPr>
          <a:xfrm>
            <a:off x="548640" y="4114800"/>
            <a:ext cx="7040880" cy="1234440"/>
          </a:xfrm>
          <a:prstGeom prst="roundRect">
            <a:avLst>
              <a:gd name="adj" fmla="val 5926"/>
            </a:avLst>
          </a:prstGeom>
          <a:solidFill>
            <a:schemeClr val="tx2"/>
          </a:solidFill>
          <a:ln w="12700">
            <a:solidFill>
              <a:schemeClr val="tx2"/>
            </a:solidFill>
            <a:prstDash val="solid"/>
          </a:ln>
        </p:spPr>
      </p:sp>
      <p:sp>
        <p:nvSpPr>
          <p:cNvPr id="12" name="Text 10"/>
          <p:cNvSpPr txBox="1"/>
          <p:nvPr/>
        </p:nvSpPr>
        <p:spPr>
          <a:xfrm>
            <a:off x="822960" y="4251960"/>
            <a:ext cx="4754880" cy="365760"/>
          </a:xfrm>
          <a:prstGeom prst="rect">
            <a:avLst/>
          </a:prstGeom>
          <a:noFill/>
          <a:ln/>
        </p:spPr>
        <p:txBody>
          <a:bodyPr wrap="square" lIns="0" tIns="0" rIns="0" bIns="0" rtlCol="0" anchor="t"/>
          <a:lstStyle/>
          <a:p>
            <a:pPr marL="0" indent="0">
              <a:buNone/>
            </a:pPr>
            <a:r>
              <a:rPr lang="en-US" sz="1900" b="1" dirty="0">
                <a:solidFill>
                  <a:schemeClr val="bg1"/>
                </a:solidFill>
              </a:rPr>
              <a:t>③ 提案材料</a:t>
            </a:r>
            <a:endParaRPr lang="en-US" sz="1900" dirty="0"/>
          </a:p>
        </p:txBody>
      </p:sp>
      <p:sp>
        <p:nvSpPr>
          <p:cNvPr id="14" name="Text 12"/>
          <p:cNvSpPr txBox="1"/>
          <p:nvPr/>
        </p:nvSpPr>
        <p:spPr>
          <a:xfrm>
            <a:off x="822960" y="4663440"/>
            <a:ext cx="6492240" cy="658368"/>
          </a:xfrm>
          <a:prstGeom prst="rect">
            <a:avLst/>
          </a:prstGeom>
          <a:noFill/>
          <a:ln/>
        </p:spPr>
        <p:txBody>
          <a:bodyPr wrap="square" lIns="0" tIns="0" rIns="0" bIns="0" rtlCol="0" anchor="t"/>
          <a:lstStyle/>
          <a:p>
            <a:pPr marL="0" indent="0">
              <a:buNone/>
            </a:pPr>
            <a:r>
              <a:rPr lang="en-US" sz="1500" dirty="0">
                <a:solidFill>
                  <a:schemeClr val="bg1"/>
                </a:solidFill>
              </a:rPr>
              <a:t>辞書ルールで検索語を決め、補助金・法令を取得。スコア内訳と適格性（✅❌⚠️）で使えるかを判断</a:t>
            </a:r>
            <a:endParaRPr lang="en-US" sz="1500" dirty="0"/>
          </a:p>
        </p:txBody>
      </p:sp>
      <p:sp>
        <p:nvSpPr>
          <p:cNvPr id="15" name="Text 13"/>
          <p:cNvSpPr txBox="1"/>
          <p:nvPr/>
        </p:nvSpPr>
        <p:spPr>
          <a:xfrm>
            <a:off x="548640" y="5577840"/>
            <a:ext cx="7040880" cy="548640"/>
          </a:xfrm>
          <a:prstGeom prst="rect">
            <a:avLst/>
          </a:prstGeom>
          <a:noFill/>
          <a:ln/>
        </p:spPr>
        <p:txBody>
          <a:bodyPr wrap="square" lIns="0" tIns="0" rIns="0" bIns="0" rtlCol="0" anchor="t"/>
          <a:lstStyle/>
          <a:p>
            <a:pPr marL="0" indent="0">
              <a:buNone/>
            </a:pPr>
            <a:r>
              <a:rPr lang="en-US" sz="1400" dirty="0">
                <a:solidFill>
                  <a:schemeClr val="accent5"/>
                </a:solidFill>
              </a:rPr>
              <a:t>余力があれば：過去案件の登録（3ステップ）／ダッシュボード（受注率・ゼロ件率）</a:t>
            </a:r>
            <a:endParaRPr lang="en-US" sz="1400" dirty="0"/>
          </a:p>
        </p:txBody>
      </p:sp>
      <p:sp>
        <p:nvSpPr>
          <p:cNvPr id="16" name="demo-scenario"/>
          <p:cNvSpPr/>
          <p:nvPr/>
        </p:nvSpPr>
        <p:spPr>
          <a:xfrm>
            <a:off x="7863840" y="1371600"/>
            <a:ext cx="3776472" cy="3977640"/>
          </a:xfrm>
          <a:prstGeom prst="roundRect">
            <a:avLst>
              <a:gd name="adj" fmla="val 1937"/>
            </a:avLst>
          </a:prstGeom>
          <a:solidFill>
            <a:schemeClr val="accent1">
              <a:lumMod val="60000"/>
              <a:lumOff val="40000"/>
            </a:schemeClr>
          </a:solidFill>
          <a:ln w="12700">
            <a:solidFill>
              <a:schemeClr val="accent1"/>
            </a:solidFill>
            <a:prstDash val="solid"/>
          </a:ln>
        </p:spPr>
      </p:sp>
      <p:sp>
        <p:nvSpPr>
          <p:cNvPr id="17" name="Text 15"/>
          <p:cNvSpPr txBox="1"/>
          <p:nvPr/>
        </p:nvSpPr>
        <p:spPr>
          <a:xfrm>
            <a:off x="8138160" y="1508760"/>
            <a:ext cx="3291840" cy="365760"/>
          </a:xfrm>
          <a:prstGeom prst="rect">
            <a:avLst/>
          </a:prstGeom>
          <a:noFill/>
          <a:ln/>
        </p:spPr>
        <p:txBody>
          <a:bodyPr wrap="square" lIns="0" tIns="0" rIns="0" bIns="0" rtlCol="0" anchor="t"/>
          <a:lstStyle/>
          <a:p>
            <a:pPr marL="0" indent="0">
              <a:buNone/>
            </a:pPr>
            <a:r>
              <a:rPr lang="en-US" sz="1600" b="1" dirty="0">
                <a:solidFill>
                  <a:schemeClr val="tx1"/>
                </a:solidFill>
              </a:rPr>
              <a:t>想定場面</a:t>
            </a:r>
            <a:endParaRPr lang="en-US" sz="1600" dirty="0"/>
          </a:p>
        </p:txBody>
      </p:sp>
      <p:sp>
        <p:nvSpPr>
          <p:cNvPr id="18" name="Text 16"/>
          <p:cNvSpPr txBox="1"/>
          <p:nvPr/>
        </p:nvSpPr>
        <p:spPr>
          <a:xfrm>
            <a:off x="8138160" y="1920240"/>
            <a:ext cx="3291840" cy="731520"/>
          </a:xfrm>
          <a:prstGeom prst="rect">
            <a:avLst/>
          </a:prstGeom>
          <a:noFill/>
          <a:ln/>
        </p:spPr>
        <p:txBody>
          <a:bodyPr wrap="square" lIns="0" tIns="0" rIns="0" bIns="0" rtlCol="0" anchor="t"/>
          <a:lstStyle/>
          <a:p>
            <a:pPr marL="0" indent="0">
              <a:buNone/>
            </a:pPr>
            <a:r>
              <a:rPr lang="en-US" sz="1800" b="1" dirty="0">
                <a:solidFill>
                  <a:schemeClr val="tx1"/>
                </a:solidFill>
              </a:rPr>
              <a:t>人手不足に悩む顧客へ、横形MCを提案する準備</a:t>
            </a:r>
            <a:endParaRPr lang="en-US" sz="1800" dirty="0"/>
          </a:p>
        </p:txBody>
      </p:sp>
      <p:sp>
        <p:nvSpPr>
          <p:cNvPr id="19" name="Text 17"/>
          <p:cNvSpPr txBox="1"/>
          <p:nvPr/>
        </p:nvSpPr>
        <p:spPr>
          <a:xfrm>
            <a:off x="8138160" y="2834640"/>
            <a:ext cx="3291840" cy="365760"/>
          </a:xfrm>
          <a:prstGeom prst="rect">
            <a:avLst/>
          </a:prstGeom>
          <a:noFill/>
          <a:ln/>
        </p:spPr>
        <p:txBody>
          <a:bodyPr wrap="square" lIns="0" tIns="0" rIns="0" bIns="0" rtlCol="0" anchor="t"/>
          <a:lstStyle/>
          <a:p>
            <a:pPr marL="0" indent="0">
              <a:buNone/>
            </a:pPr>
            <a:r>
              <a:rPr lang="en-US" sz="1600" b="1" dirty="0">
                <a:solidFill>
                  <a:schemeClr val="tx1"/>
                </a:solidFill>
              </a:rPr>
              <a:t>見せたい気づき</a:t>
            </a:r>
            <a:endParaRPr lang="en-US" sz="1600" dirty="0"/>
          </a:p>
        </p:txBody>
      </p:sp>
      <p:sp>
        <p:nvSpPr>
          <p:cNvPr id="20" name="Text 18"/>
          <p:cNvSpPr txBox="1"/>
          <p:nvPr/>
        </p:nvSpPr>
        <p:spPr>
          <a:xfrm>
            <a:off x="8138160" y="3246120"/>
            <a:ext cx="329184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受注：補助金・資金計画が決め手</a:t>
            </a:r>
            <a:endParaRPr lang="en-US" sz="1500" dirty="0"/>
          </a:p>
          <a:p>
            <a:pPr marL="342900" indent="-342900">
              <a:spcAft>
                <a:spcPts val="600"/>
              </a:spcAft>
              <a:buSzPct val="100000"/>
              <a:buChar char="•"/>
            </a:pPr>
            <a:r>
              <a:rPr lang="en-US" sz="1500" dirty="0">
                <a:solidFill>
                  <a:schemeClr val="tx1"/>
                </a:solidFill>
              </a:rPr>
              <a:t>失注：価格で負けた</a:t>
            </a:r>
            <a:endParaRPr lang="en-US" sz="1500" dirty="0"/>
          </a:p>
          <a:p>
            <a:pPr marL="0" indent="0">
              <a:spcAft>
                <a:spcPts val="600"/>
              </a:spcAft>
              <a:buNone/>
            </a:pPr>
            <a:r>
              <a:rPr lang="en-US" sz="1500" dirty="0">
                <a:solidFill>
                  <a:schemeClr val="tx1"/>
                </a:solidFill>
              </a:rPr>
              <a:t>→ 補助金で実質負担を下げる提案に変えられる</a:t>
            </a:r>
            <a:endParaRPr lang="en-US" sz="1500" dirty="0"/>
          </a:p>
        </p:txBody>
      </p:sp>
      <p:sp>
        <p:nvSpPr>
          <p:cNvPr id="21" name="Text 19"/>
          <p:cNvSpPr txBox="1"/>
          <p:nvPr/>
        </p:nvSpPr>
        <p:spPr>
          <a:xfrm>
            <a:off x="7863840" y="5577840"/>
            <a:ext cx="3776472" cy="548640"/>
          </a:xfrm>
          <a:prstGeom prst="rect">
            <a:avLst/>
          </a:prstGeom>
          <a:noFill/>
          <a:ln/>
        </p:spPr>
        <p:txBody>
          <a:bodyPr wrap="square" lIns="0" tIns="0" rIns="0" bIns="0" rtlCol="0" anchor="t"/>
          <a:lstStyle/>
          <a:p>
            <a:pPr marL="0" indent="0">
              <a:buNone/>
            </a:pPr>
            <a:r>
              <a:rPr lang="en-US" sz="1400" dirty="0">
                <a:solidFill>
                  <a:schemeClr val="accent5"/>
                </a:solidFill>
              </a:rPr>
              <a:t>※データは架空の過去案件20件。API不通時はデモデータに切替</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tx1"/>
                </a:solidFill>
              </a:rPr>
              <a:t>当初案からの変化：変えた4点と、変えなかった核</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754880"/>
        </p:xfrm>
        <a:graphic>
          <a:graphicData uri="http://schemas.openxmlformats.org/drawingml/2006/table">
            <a:tbl>
              <a:tblPr/>
              <a:tblGrid>
                <a:gridCol w="33832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050792">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rPr>
                        <a:t>最初の考え（最終形のイメージ）</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B2A38"/>
                    </a:solidFill>
                  </a:tcPr>
                </a:tc>
                <a:tc>
                  <a:txBody>
                    <a:bodyPr/>
                    <a:lstStyle/>
                    <a:p>
                      <a:pPr marL="0" indent="0">
                        <a:buNone/>
                      </a:pPr>
                      <a:r>
                        <a:rPr lang="en-US" sz="1400" b="1" dirty="0">
                          <a:solidFill>
                            <a:srgbClr val="FFFFFF"/>
                          </a:solidFill>
                        </a:rPr>
                        <a:t>現在（MVP）</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B2A38"/>
                    </a:solidFill>
                  </a:tcPr>
                </a:tc>
                <a:tc>
                  <a:txBody>
                    <a:bodyPr/>
                    <a:lstStyle/>
                    <a:p>
                      <a:pPr marL="0" indent="0">
                        <a:buNone/>
                      </a:pPr>
                      <a:r>
                        <a:rPr lang="en-US" sz="1400" b="1" dirty="0">
                          <a:solidFill>
                            <a:srgbClr val="FFFFFF"/>
                          </a:solidFill>
                        </a:rPr>
                        <a:t>理由</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B2A38"/>
                    </a:solidFill>
                  </a:tcPr>
                </a:tc>
                <a:extLst>
                  <a:ext uri="{0D108BD9-81ED-4DB2-BD59-A6C34878D82A}">
                    <a16:rowId xmlns:a16="http://schemas.microsoft.com/office/drawing/2014/main" val="10000"/>
                  </a:ext>
                </a:extLst>
              </a:tr>
              <a:tr h="868680">
                <a:tc>
                  <a:txBody>
                    <a:bodyPr/>
                    <a:lstStyle/>
                    <a:p>
                      <a:pPr marL="0" indent="0">
                        <a:buNone/>
                      </a:pPr>
                      <a:r>
                        <a:rPr lang="en-US" sz="1400" b="1" dirty="0">
                          <a:solidFill>
                            <a:srgbClr val="1B2A38"/>
                          </a:solidFill>
                        </a:rPr>
                        <a:t>似た過去案件を一覧で出す</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b="1" dirty="0">
                          <a:solidFill>
                            <a:srgbClr val="E8731A"/>
                          </a:solidFill>
                        </a:rPr>
                        <a:t>変更</a:t>
                      </a:r>
                      <a:endParaRPr lang="en-US" sz="1200" dirty="0"/>
                    </a:p>
                    <a:p>
                      <a:pPr marL="0" indent="0">
                        <a:buNone/>
                      </a:pPr>
                      <a:r>
                        <a:rPr lang="en-US" sz="1400" dirty="0">
                          <a:solidFill>
                            <a:srgbClr val="1B2A38"/>
                          </a:solidFill>
                        </a:rPr>
                        <a:t>受注と失注を左右に並べ、違う項目を強調</a:t>
                      </a:r>
                      <a:endParaRPr lang="en-US" sz="12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成功事例の真似で終わらせず、「今回何を変えるか」を考えさせるため</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400" b="1" dirty="0">
                          <a:solidFill>
                            <a:srgbClr val="1B2A38"/>
                          </a:solidFill>
                        </a:rPr>
                        <a:t>AIが成功・失敗要因を分析・要約</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b="1" dirty="0">
                          <a:solidFill>
                            <a:srgbClr val="E8731A"/>
                          </a:solidFill>
                        </a:rPr>
                        <a:t>変更</a:t>
                      </a:r>
                      <a:endParaRPr lang="en-US" sz="1200" dirty="0"/>
                    </a:p>
                    <a:p>
                      <a:pPr marL="0" indent="0">
                        <a:buNone/>
                      </a:pPr>
                      <a:r>
                        <a:rPr lang="en-US" sz="1400" dirty="0">
                          <a:solidFill>
                            <a:srgbClr val="1B2A38"/>
                          </a:solidFill>
                        </a:rPr>
                        <a:t>入力済みカテゴリ＋原文リンクを表示（AIなし）</a:t>
                      </a:r>
                      <a:endParaRPr lang="en-US" sz="12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a:solidFill>
                            <a:srgbClr val="1B2A38"/>
                          </a:solidFill>
                        </a:rPr>
                        <a:t>まず根拠を確認できる形で現場の価値を検証。AIは最終形で追加</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extLst>
                  <a:ext uri="{0D108BD9-81ED-4DB2-BD59-A6C34878D82A}">
                    <a16:rowId xmlns:a16="http://schemas.microsoft.com/office/drawing/2014/main" val="10002"/>
                  </a:ext>
                </a:extLst>
              </a:tr>
              <a:tr h="868680">
                <a:tc>
                  <a:txBody>
                    <a:bodyPr/>
                    <a:lstStyle/>
                    <a:p>
                      <a:pPr marL="0" indent="0">
                        <a:buNone/>
                      </a:pPr>
                      <a:r>
                        <a:rPr lang="en-US" sz="1400" b="1" dirty="0">
                          <a:solidFill>
                            <a:srgbClr val="1B2A38"/>
                          </a:solidFill>
                        </a:rPr>
                        <a:t>AIが規制・補助金を照合</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b="1" dirty="0">
                          <a:solidFill>
                            <a:srgbClr val="E8731A"/>
                          </a:solidFill>
                        </a:rPr>
                        <a:t>変更</a:t>
                      </a:r>
                      <a:endParaRPr lang="en-US" sz="1200" dirty="0"/>
                    </a:p>
                    <a:p>
                      <a:pPr marL="0" indent="0">
                        <a:buNone/>
                      </a:pPr>
                      <a:r>
                        <a:rPr lang="en-US" sz="1400" dirty="0">
                          <a:solidFill>
                            <a:srgbClr val="1B2A38"/>
                          </a:solidFill>
                        </a:rPr>
                        <a:t>辞書ルール＋公式API＋適格性チェック</a:t>
                      </a:r>
                      <a:endParaRPr lang="en-US" sz="12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marL="0" indent="0">
                        <a:buNone/>
                      </a:pPr>
                      <a:r>
                        <a:rPr lang="en-US" sz="1400" dirty="0">
                          <a:solidFill>
                            <a:srgbClr val="1B2A38"/>
                          </a:solidFill>
                        </a:rPr>
                        <a:t>誤った制度を提案書に載せるリスクを避け、理由を再現可能にするため</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400" b="1" dirty="0">
                          <a:solidFill>
                            <a:srgbClr val="1B2A38"/>
                          </a:solidFill>
                        </a:rPr>
                        <a:t>OpenSearch・PostgreSQL・SSOのクラウド構成</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b="1" dirty="0">
                          <a:solidFill>
                            <a:srgbClr val="E8731A"/>
                          </a:solidFill>
                        </a:rPr>
                        <a:t>変更</a:t>
                      </a:r>
                      <a:endParaRPr lang="en-US" sz="1200" dirty="0"/>
                    </a:p>
                    <a:p>
                      <a:pPr marL="0" indent="0">
                        <a:buNone/>
                      </a:pPr>
                      <a:r>
                        <a:rPr lang="en-US" sz="1400" dirty="0">
                          <a:solidFill>
                            <a:srgbClr val="1B2A38"/>
                          </a:solidFill>
                        </a:rPr>
                        <a:t>SQLite＋FTS5＋TF-IDF、ローカル稼働</a:t>
                      </a:r>
                      <a:endParaRPr lang="en-US" sz="12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tc>
                  <a:txBody>
                    <a:bodyPr/>
                    <a:lstStyle/>
                    <a:p>
                      <a:pPr marL="0" indent="0">
                        <a:buNone/>
                      </a:pPr>
                      <a:r>
                        <a:rPr lang="en-US" sz="1400" dirty="0">
                          <a:solidFill>
                            <a:srgbClr val="1B2A38"/>
                          </a:solidFill>
                        </a:rPr>
                        <a:t>数百〜数千件で十分。少人数で素早く作り直せる。拡張時はDB層の差し替えで移行を想定</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EF2F5"/>
                    </a:solidFill>
                  </a:tcPr>
                </a:tc>
                <a:extLst>
                  <a:ext uri="{0D108BD9-81ED-4DB2-BD59-A6C34878D82A}">
                    <a16:rowId xmlns:a16="http://schemas.microsoft.com/office/drawing/2014/main" val="10004"/>
                  </a:ext>
                </a:extLst>
              </a:tr>
              <a:tr h="868680">
                <a:tc>
                  <a:txBody>
                    <a:bodyPr/>
                    <a:lstStyle/>
                    <a:p>
                      <a:pPr marL="0" indent="0">
                        <a:buNone/>
                      </a:pPr>
                      <a:r>
                        <a:rPr lang="en-US" sz="1400" b="1" dirty="0">
                          <a:solidFill>
                            <a:srgbClr val="1B2A38"/>
                          </a:solidFill>
                        </a:rPr>
                        <a:t>3ステップの流れ／原文保持／選択式入力</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3EEF4"/>
                    </a:solidFill>
                  </a:tcPr>
                </a:tc>
                <a:tc>
                  <a:txBody>
                    <a:bodyPr/>
                    <a:lstStyle/>
                    <a:p>
                      <a:pPr marL="0" indent="0">
                        <a:buNone/>
                      </a:pPr>
                      <a:r>
                        <a:rPr lang="en-US" sz="1400" b="1" dirty="0">
                          <a:solidFill>
                            <a:srgbClr val="3F6E8C"/>
                          </a:solidFill>
                        </a:rPr>
                        <a:t>維持</a:t>
                      </a:r>
                      <a:endParaRPr lang="en-US" sz="1200" dirty="0"/>
                    </a:p>
                    <a:p>
                      <a:pPr marL="0" indent="0">
                        <a:buNone/>
                      </a:pPr>
                      <a:r>
                        <a:rPr lang="en-US" sz="1400" dirty="0">
                          <a:solidFill>
                            <a:srgbClr val="1B2A38"/>
                          </a:solidFill>
                        </a:rPr>
                        <a:t>変えなかった</a:t>
                      </a:r>
                      <a:endParaRPr lang="en-US" sz="12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3EEF4"/>
                    </a:solidFill>
                  </a:tcPr>
                </a:tc>
                <a:tc>
                  <a:txBody>
                    <a:bodyPr/>
                    <a:lstStyle/>
                    <a:p>
                      <a:pPr marL="0" indent="0">
                        <a:buNone/>
                      </a:pPr>
                      <a:r>
                        <a:rPr lang="en-US" sz="1400" dirty="0">
                          <a:solidFill>
                            <a:srgbClr val="1B2A38"/>
                          </a:solidFill>
                        </a:rPr>
                        <a:t>5 Whysの真因（探せない・真因不明・入力されない）に直結するため</a:t>
                      </a:r>
                      <a:endParaRPr lang="en-US" sz="1400" dirty="0"/>
                    </a:p>
                  </a:txBody>
                  <a:tcPr marL="109728" marR="109728"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3EEF4"/>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tx1"/>
                </a:solidFill>
              </a:rPr>
              <a:t>期待効果と、本番化に向けた次の一手</a:t>
            </a:r>
            <a:endParaRPr lang="en-US" sz="2800" dirty="0"/>
          </a:p>
        </p:txBody>
      </p:sp>
      <p:graphicFrame>
        <p:nvGraphicFramePr>
          <p:cNvPr id="3" name="Chart 0"/>
          <p:cNvGraphicFramePr/>
          <p:nvPr/>
        </p:nvGraphicFramePr>
        <p:xfrm>
          <a:off x="548640" y="1325880"/>
          <a:ext cx="548640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 y="5440680"/>
            <a:ext cx="5486400" cy="274320"/>
          </a:xfrm>
          <a:prstGeom prst="rect">
            <a:avLst/>
          </a:prstGeom>
          <a:noFill/>
          <a:ln/>
        </p:spPr>
        <p:txBody>
          <a:bodyPr wrap="square" lIns="0" tIns="0" rIns="0" bIns="0" rtlCol="0" anchor="t"/>
          <a:lstStyle/>
          <a:p>
            <a:pPr marL="0" indent="0" algn="ctr">
              <a:buNone/>
            </a:pPr>
            <a:r>
              <a:rPr lang="en-US" sz="1400" dirty="0">
                <a:solidFill>
                  <a:schemeClr val="tx2"/>
                </a:solidFill>
              </a:rPr>
              <a:t>標準シナリオ：15→8時間 × 年30件 × 300名</a:t>
            </a:r>
            <a:endParaRPr lang="en-US" sz="1400" dirty="0"/>
          </a:p>
        </p:txBody>
      </p:sp>
      <p:sp>
        <p:nvSpPr>
          <p:cNvPr id="5" name="roi-stat"/>
          <p:cNvSpPr/>
          <p:nvPr/>
        </p:nvSpPr>
        <p:spPr>
          <a:xfrm>
            <a:off x="6583680" y="1325880"/>
            <a:ext cx="5056632" cy="1234440"/>
          </a:xfrm>
          <a:prstGeom prst="roundRect">
            <a:avLst>
              <a:gd name="adj" fmla="val 5926"/>
            </a:avLst>
          </a:prstGeom>
          <a:solidFill>
            <a:schemeClr val="accent1">
              <a:lumMod val="60000"/>
              <a:lumOff val="40000"/>
            </a:schemeClr>
          </a:solidFill>
          <a:ln w="12700">
            <a:solidFill>
              <a:schemeClr val="accent1"/>
            </a:solidFill>
            <a:prstDash val="solid"/>
          </a:ln>
        </p:spPr>
      </p:sp>
      <p:sp>
        <p:nvSpPr>
          <p:cNvPr id="6" name="Text 3"/>
          <p:cNvSpPr txBox="1"/>
          <p:nvPr/>
        </p:nvSpPr>
        <p:spPr>
          <a:xfrm>
            <a:off x="6812280" y="1417320"/>
            <a:ext cx="4663440" cy="640080"/>
          </a:xfrm>
          <a:prstGeom prst="rect">
            <a:avLst/>
          </a:prstGeom>
          <a:noFill/>
          <a:ln/>
        </p:spPr>
        <p:txBody>
          <a:bodyPr wrap="square" lIns="0" tIns="0" rIns="0" bIns="0" rtlCol="0" anchor="ctr"/>
          <a:lstStyle/>
          <a:p>
            <a:pPr marL="0" indent="0">
              <a:buNone/>
            </a:pPr>
            <a:r>
              <a:rPr lang="en-US" sz="2800" b="1" dirty="0">
                <a:solidFill>
                  <a:schemeClr val="tx1"/>
                </a:solidFill>
              </a:rPr>
              <a:t>年間 約63,000時間 削減</a:t>
            </a:r>
            <a:endParaRPr lang="en-US" sz="2800" dirty="0"/>
          </a:p>
        </p:txBody>
      </p:sp>
      <p:sp>
        <p:nvSpPr>
          <p:cNvPr id="7" name="Text 4"/>
          <p:cNvSpPr txBox="1"/>
          <p:nvPr/>
        </p:nvSpPr>
        <p:spPr>
          <a:xfrm>
            <a:off x="6812280" y="2057400"/>
            <a:ext cx="4663440" cy="365760"/>
          </a:xfrm>
          <a:prstGeom prst="rect">
            <a:avLst/>
          </a:prstGeom>
          <a:noFill/>
          <a:ln/>
        </p:spPr>
        <p:txBody>
          <a:bodyPr wrap="square" lIns="0" tIns="0" rIns="0" bIns="0" rtlCol="0" anchor="t"/>
          <a:lstStyle/>
          <a:p>
            <a:pPr marL="0" indent="0">
              <a:buNone/>
            </a:pPr>
            <a:r>
              <a:rPr lang="en-US" sz="1500" dirty="0">
                <a:solidFill>
                  <a:schemeClr val="tx1"/>
                </a:solidFill>
              </a:rPr>
              <a:t>約31人分の工数（1人2,000時間で換算）</a:t>
            </a:r>
            <a:endParaRPr lang="en-US" sz="1500" dirty="0"/>
          </a:p>
        </p:txBody>
      </p:sp>
      <p:sp>
        <p:nvSpPr>
          <p:cNvPr id="8" name="Text 5"/>
          <p:cNvSpPr txBox="1"/>
          <p:nvPr/>
        </p:nvSpPr>
        <p:spPr>
          <a:xfrm>
            <a:off x="6583680" y="2743200"/>
            <a:ext cx="5056632" cy="365760"/>
          </a:xfrm>
          <a:prstGeom prst="rect">
            <a:avLst/>
          </a:prstGeom>
          <a:noFill/>
          <a:ln/>
        </p:spPr>
        <p:txBody>
          <a:bodyPr wrap="square" lIns="0" tIns="0" rIns="0" bIns="0" rtlCol="0" anchor="t"/>
          <a:lstStyle/>
          <a:p>
            <a:pPr marL="0" indent="0">
              <a:buNone/>
            </a:pPr>
            <a:r>
              <a:rPr lang="en-US" sz="1800" b="1" dirty="0">
                <a:solidFill>
                  <a:schemeClr val="tx1"/>
                </a:solidFill>
              </a:rPr>
              <a:t>本番化に向けた次の一手</a:t>
            </a:r>
            <a:endParaRPr lang="en-US" sz="1800" dirty="0"/>
          </a:p>
        </p:txBody>
      </p:sp>
      <p:sp>
        <p:nvSpPr>
          <p:cNvPr id="9" name="num-1"/>
          <p:cNvSpPr/>
          <p:nvPr/>
        </p:nvSpPr>
        <p:spPr>
          <a:xfrm>
            <a:off x="6583680" y="3246120"/>
            <a:ext cx="411480" cy="411480"/>
          </a:xfrm>
          <a:prstGeom prst="ellipse">
            <a:avLst/>
          </a:prstGeom>
          <a:solidFill>
            <a:schemeClr val="accent4"/>
          </a:solidFill>
          <a:ln w="12700">
            <a:solidFill>
              <a:schemeClr val="accent4"/>
            </a:solidFill>
            <a:prstDash val="solid"/>
          </a:ln>
        </p:spPr>
      </p:sp>
      <p:sp>
        <p:nvSpPr>
          <p:cNvPr id="10" name="Text 7"/>
          <p:cNvSpPr txBox="1"/>
          <p:nvPr/>
        </p:nvSpPr>
        <p:spPr>
          <a:xfrm>
            <a:off x="6583680" y="324612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1" name="Text 8"/>
          <p:cNvSpPr txBox="1"/>
          <p:nvPr/>
        </p:nvSpPr>
        <p:spPr>
          <a:xfrm>
            <a:off x="7178040" y="3200400"/>
            <a:ext cx="4462272" cy="502920"/>
          </a:xfrm>
          <a:prstGeom prst="rect">
            <a:avLst/>
          </a:prstGeom>
          <a:noFill/>
          <a:ln/>
        </p:spPr>
        <p:txBody>
          <a:bodyPr wrap="square" lIns="0" tIns="0" rIns="0" bIns="0" rtlCol="0" anchor="ctr"/>
          <a:lstStyle/>
          <a:p>
            <a:pPr marL="0" indent="0">
              <a:buNone/>
            </a:pPr>
            <a:r>
              <a:rPr lang="en-US" sz="1400" dirty="0">
                <a:solidFill>
                  <a:schemeClr val="tx1"/>
                </a:solidFill>
              </a:rPr>
              <a:t>実データで検証：拠点ごとの日報・失注記録をCSV取込</a:t>
            </a:r>
            <a:endParaRPr lang="en-US" sz="1400" dirty="0"/>
          </a:p>
        </p:txBody>
      </p:sp>
      <p:sp>
        <p:nvSpPr>
          <p:cNvPr id="12" name="num-2"/>
          <p:cNvSpPr/>
          <p:nvPr/>
        </p:nvSpPr>
        <p:spPr>
          <a:xfrm>
            <a:off x="6583680" y="3849624"/>
            <a:ext cx="411480" cy="411480"/>
          </a:xfrm>
          <a:prstGeom prst="ellipse">
            <a:avLst/>
          </a:prstGeom>
          <a:solidFill>
            <a:schemeClr val="accent4"/>
          </a:solidFill>
          <a:ln w="12700">
            <a:solidFill>
              <a:schemeClr val="accent4"/>
            </a:solidFill>
            <a:prstDash val="solid"/>
          </a:ln>
        </p:spPr>
      </p:sp>
      <p:sp>
        <p:nvSpPr>
          <p:cNvPr id="13" name="Text 10"/>
          <p:cNvSpPr txBox="1"/>
          <p:nvPr/>
        </p:nvSpPr>
        <p:spPr>
          <a:xfrm>
            <a:off x="6583680" y="3849624"/>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Text 11"/>
          <p:cNvSpPr txBox="1"/>
          <p:nvPr/>
        </p:nvSpPr>
        <p:spPr>
          <a:xfrm>
            <a:off x="7178040" y="3803904"/>
            <a:ext cx="4462272" cy="502920"/>
          </a:xfrm>
          <a:prstGeom prst="rect">
            <a:avLst/>
          </a:prstGeom>
          <a:noFill/>
          <a:ln/>
        </p:spPr>
        <p:txBody>
          <a:bodyPr wrap="square" lIns="0" tIns="0" rIns="0" bIns="0" rtlCol="0" anchor="ctr"/>
          <a:lstStyle/>
          <a:p>
            <a:pPr marL="0" indent="0">
              <a:buNone/>
            </a:pPr>
            <a:r>
              <a:rPr lang="en-US" sz="1400" dirty="0">
                <a:solidFill>
                  <a:schemeClr val="tx1"/>
                </a:solidFill>
              </a:rPr>
              <a:t>効果測定：提案作成時間・検索ログ・受注率をKPIに</a:t>
            </a:r>
            <a:endParaRPr lang="en-US" sz="1400" dirty="0"/>
          </a:p>
        </p:txBody>
      </p:sp>
      <p:sp>
        <p:nvSpPr>
          <p:cNvPr id="15" name="num-3"/>
          <p:cNvSpPr/>
          <p:nvPr/>
        </p:nvSpPr>
        <p:spPr>
          <a:xfrm>
            <a:off x="6583680" y="4453128"/>
            <a:ext cx="411480" cy="411480"/>
          </a:xfrm>
          <a:prstGeom prst="ellipse">
            <a:avLst/>
          </a:prstGeom>
          <a:solidFill>
            <a:schemeClr val="accent4"/>
          </a:solidFill>
          <a:ln w="12700">
            <a:solidFill>
              <a:schemeClr val="accent4"/>
            </a:solidFill>
            <a:prstDash val="solid"/>
          </a:ln>
        </p:spPr>
      </p:sp>
      <p:sp>
        <p:nvSpPr>
          <p:cNvPr id="16" name="Text 13"/>
          <p:cNvSpPr txBox="1"/>
          <p:nvPr/>
        </p:nvSpPr>
        <p:spPr>
          <a:xfrm>
            <a:off x="6583680" y="4453128"/>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4"/>
          <p:cNvSpPr txBox="1"/>
          <p:nvPr/>
        </p:nvSpPr>
        <p:spPr>
          <a:xfrm>
            <a:off x="7178040" y="4407408"/>
            <a:ext cx="4462272" cy="502920"/>
          </a:xfrm>
          <a:prstGeom prst="rect">
            <a:avLst/>
          </a:prstGeom>
          <a:noFill/>
          <a:ln/>
        </p:spPr>
        <p:txBody>
          <a:bodyPr wrap="square" lIns="0" tIns="0" rIns="0" bIns="0" rtlCol="0" anchor="ctr"/>
          <a:lstStyle/>
          <a:p>
            <a:pPr marL="0" indent="0">
              <a:buNone/>
            </a:pPr>
            <a:r>
              <a:rPr lang="en-US" sz="1400" dirty="0">
                <a:solidFill>
                  <a:schemeClr val="tx1"/>
                </a:solidFill>
              </a:rPr>
              <a:t>安全性：SSO・権限管理・閲覧ログ・匿名化</a:t>
            </a:r>
            <a:endParaRPr lang="en-US" sz="1400" dirty="0"/>
          </a:p>
        </p:txBody>
      </p:sp>
      <p:sp>
        <p:nvSpPr>
          <p:cNvPr id="18" name="num-4"/>
          <p:cNvSpPr/>
          <p:nvPr/>
        </p:nvSpPr>
        <p:spPr>
          <a:xfrm>
            <a:off x="6583680" y="5056632"/>
            <a:ext cx="411480" cy="411480"/>
          </a:xfrm>
          <a:prstGeom prst="ellipse">
            <a:avLst/>
          </a:prstGeom>
          <a:solidFill>
            <a:schemeClr val="accent4"/>
          </a:solidFill>
          <a:ln w="12700">
            <a:solidFill>
              <a:schemeClr val="accent4"/>
            </a:solidFill>
            <a:prstDash val="solid"/>
          </a:ln>
        </p:spPr>
      </p:sp>
      <p:sp>
        <p:nvSpPr>
          <p:cNvPr id="19" name="Text 16"/>
          <p:cNvSpPr txBox="1"/>
          <p:nvPr/>
        </p:nvSpPr>
        <p:spPr>
          <a:xfrm>
            <a:off x="6583680" y="5056632"/>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0" name="Text 17"/>
          <p:cNvSpPr txBox="1"/>
          <p:nvPr/>
        </p:nvSpPr>
        <p:spPr>
          <a:xfrm>
            <a:off x="7178040" y="5010912"/>
            <a:ext cx="4462272" cy="502920"/>
          </a:xfrm>
          <a:prstGeom prst="rect">
            <a:avLst/>
          </a:prstGeom>
          <a:noFill/>
          <a:ln/>
        </p:spPr>
        <p:txBody>
          <a:bodyPr wrap="square" lIns="0" tIns="0" rIns="0" bIns="0" rtlCol="0" anchor="ctr"/>
          <a:lstStyle/>
          <a:p>
            <a:pPr marL="0" indent="0">
              <a:buNone/>
            </a:pPr>
            <a:r>
              <a:rPr lang="en-US" sz="1400" dirty="0">
                <a:solidFill>
                  <a:schemeClr val="tx1"/>
                </a:solidFill>
              </a:rPr>
              <a:t>AI追加：成功・失敗要因の分析と要約（外部LLM API）</a:t>
            </a:r>
            <a:endParaRPr lang="en-US" sz="1400" dirty="0"/>
          </a:p>
        </p:txBody>
      </p:sp>
      <p:sp>
        <p:nvSpPr>
          <p:cNvPr id="21" name="limits"/>
          <p:cNvSpPr/>
          <p:nvPr/>
        </p:nvSpPr>
        <p:spPr>
          <a:xfrm>
            <a:off x="548640" y="5760720"/>
            <a:ext cx="11094415" cy="530352"/>
          </a:xfrm>
          <a:prstGeom prst="roundRect">
            <a:avLst>
              <a:gd name="adj" fmla="val 13793"/>
            </a:avLst>
          </a:prstGeom>
          <a:solidFill>
            <a:schemeClr val="bg2"/>
          </a:solidFill>
          <a:ln w="12700">
            <a:solidFill>
              <a:schemeClr val="bg2"/>
            </a:solidFill>
            <a:prstDash val="solid"/>
          </a:ln>
        </p:spPr>
      </p:sp>
      <p:sp>
        <p:nvSpPr>
          <p:cNvPr id="22" name="Text 19"/>
          <p:cNvSpPr txBox="1"/>
          <p:nvPr/>
        </p:nvSpPr>
        <p:spPr>
          <a:xfrm>
            <a:off x="777240" y="5760720"/>
            <a:ext cx="10637215" cy="530352"/>
          </a:xfrm>
          <a:prstGeom prst="rect">
            <a:avLst/>
          </a:prstGeom>
          <a:noFill/>
          <a:ln/>
        </p:spPr>
        <p:txBody>
          <a:bodyPr wrap="square" lIns="0" tIns="0" rIns="0" bIns="0" rtlCol="0" anchor="ctr"/>
          <a:lstStyle/>
          <a:p>
            <a:pPr marL="0" indent="0">
              <a:buNone/>
            </a:pPr>
            <a:r>
              <a:rPr lang="en-US" sz="1400" b="1" dirty="0">
                <a:solidFill>
                  <a:schemeClr val="accent3"/>
                </a:solidFill>
              </a:rPr>
              <a:t>現時点の限界　</a:t>
            </a:r>
            <a:r>
              <a:rPr lang="en-US" sz="1400" dirty="0">
                <a:solidFill>
                  <a:schemeClr val="tx1"/>
                </a:solidFill>
              </a:rPr>
              <a:t>デモは架空の案件20件／失注率の低下は仮説で未検証／同義語・言い換え検索は弱い</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2800" b="1" dirty="0">
                <a:solidFill>
                  <a:schemeClr val="tx1"/>
                </a:solidFill>
              </a:rPr>
              <a:t>【補足】想定問答：判断の理由をチーム全員が説明できる</a:t>
            </a:r>
            <a:endParaRPr lang="en-US" sz="2800" dirty="0"/>
          </a:p>
        </p:txBody>
      </p:sp>
      <p:sp>
        <p:nvSpPr>
          <p:cNvPr id="3" name="qa-q-1"/>
          <p:cNvSpPr/>
          <p:nvPr/>
        </p:nvSpPr>
        <p:spPr>
          <a:xfrm>
            <a:off x="548640" y="1325880"/>
            <a:ext cx="3566160" cy="868680"/>
          </a:xfrm>
          <a:prstGeom prst="roundRect">
            <a:avLst>
              <a:gd name="adj" fmla="val 8421"/>
            </a:avLst>
          </a:prstGeom>
          <a:solidFill>
            <a:schemeClr val="accent4"/>
          </a:solidFill>
          <a:ln w="12700">
            <a:solidFill>
              <a:schemeClr val="accent4"/>
            </a:solidFill>
            <a:prstDash val="solid"/>
          </a:ln>
        </p:spPr>
      </p:sp>
      <p:sp>
        <p:nvSpPr>
          <p:cNvPr id="4" name="Text 2"/>
          <p:cNvSpPr txBox="1"/>
          <p:nvPr/>
        </p:nvSpPr>
        <p:spPr>
          <a:xfrm>
            <a:off x="731520" y="1325880"/>
            <a:ext cx="3200400" cy="868680"/>
          </a:xfrm>
          <a:prstGeom prst="rect">
            <a:avLst/>
          </a:prstGeom>
          <a:noFill/>
          <a:ln/>
        </p:spPr>
        <p:txBody>
          <a:bodyPr wrap="square" lIns="0" tIns="0" rIns="0" bIns="0" rtlCol="0" anchor="ctr"/>
          <a:lstStyle/>
          <a:p>
            <a:pPr marL="0" indent="0">
              <a:buNone/>
            </a:pPr>
            <a:r>
              <a:rPr lang="en-US" sz="1500" b="1" dirty="0">
                <a:solidFill>
                  <a:schemeClr val="bg1"/>
                </a:solidFill>
              </a:rPr>
              <a:t>Q. なぜMVPにAIを使わなかったのか</a:t>
            </a:r>
            <a:endParaRPr lang="en-US" sz="1500" dirty="0"/>
          </a:p>
        </p:txBody>
      </p:sp>
      <p:sp>
        <p:nvSpPr>
          <p:cNvPr id="5" name="qa-a-1"/>
          <p:cNvSpPr/>
          <p:nvPr/>
        </p:nvSpPr>
        <p:spPr>
          <a:xfrm>
            <a:off x="4251960" y="1325880"/>
            <a:ext cx="7391095" cy="868680"/>
          </a:xfrm>
          <a:prstGeom prst="roundRect">
            <a:avLst>
              <a:gd name="adj" fmla="val 8421"/>
            </a:avLst>
          </a:prstGeom>
          <a:solidFill>
            <a:schemeClr val="bg2"/>
          </a:solidFill>
          <a:ln w="12700">
            <a:solidFill>
              <a:schemeClr val="bg2"/>
            </a:solidFill>
            <a:prstDash val="solid"/>
          </a:ln>
        </p:spPr>
      </p:sp>
      <p:sp>
        <p:nvSpPr>
          <p:cNvPr id="6" name="Text 4"/>
          <p:cNvSpPr txBox="1"/>
          <p:nvPr/>
        </p:nvSpPr>
        <p:spPr>
          <a:xfrm>
            <a:off x="4434840" y="1325880"/>
            <a:ext cx="7025335" cy="868680"/>
          </a:xfrm>
          <a:prstGeom prst="rect">
            <a:avLst/>
          </a:prstGeom>
          <a:noFill/>
          <a:ln/>
        </p:spPr>
        <p:txBody>
          <a:bodyPr wrap="square" lIns="0" tIns="0" rIns="0" bIns="0" rtlCol="0" anchor="ctr"/>
          <a:lstStyle/>
          <a:p>
            <a:pPr marL="0" indent="0">
              <a:buNone/>
            </a:pPr>
            <a:r>
              <a:rPr lang="en-US" sz="1400" dirty="0">
                <a:solidFill>
                  <a:schemeClr val="tx1"/>
                </a:solidFill>
              </a:rPr>
              <a:t>根拠を原文で確認でき、結果が毎回同じであることを優先。補助金・法令は誤情報のリスクが大きい。AIは大量文書の要約が必要になる最終形で使う</a:t>
            </a:r>
            <a:endParaRPr lang="en-US" sz="1400" dirty="0"/>
          </a:p>
        </p:txBody>
      </p:sp>
      <p:sp>
        <p:nvSpPr>
          <p:cNvPr id="7" name="qa-q-2"/>
          <p:cNvSpPr/>
          <p:nvPr/>
        </p:nvSpPr>
        <p:spPr>
          <a:xfrm>
            <a:off x="548640" y="2304288"/>
            <a:ext cx="3566160" cy="868680"/>
          </a:xfrm>
          <a:prstGeom prst="roundRect">
            <a:avLst>
              <a:gd name="adj" fmla="val 8421"/>
            </a:avLst>
          </a:prstGeom>
          <a:solidFill>
            <a:schemeClr val="accent4"/>
          </a:solidFill>
          <a:ln w="12700">
            <a:solidFill>
              <a:schemeClr val="accent4"/>
            </a:solidFill>
            <a:prstDash val="solid"/>
          </a:ln>
        </p:spPr>
      </p:sp>
      <p:sp>
        <p:nvSpPr>
          <p:cNvPr id="8" name="Text 6"/>
          <p:cNvSpPr txBox="1"/>
          <p:nvPr/>
        </p:nvSpPr>
        <p:spPr>
          <a:xfrm>
            <a:off x="731520" y="2304288"/>
            <a:ext cx="3200400" cy="868680"/>
          </a:xfrm>
          <a:prstGeom prst="rect">
            <a:avLst/>
          </a:prstGeom>
          <a:noFill/>
          <a:ln/>
        </p:spPr>
        <p:txBody>
          <a:bodyPr wrap="square" lIns="0" tIns="0" rIns="0" bIns="0" rtlCol="0" anchor="ctr"/>
          <a:lstStyle/>
          <a:p>
            <a:pPr marL="0" indent="0">
              <a:buNone/>
            </a:pPr>
            <a:r>
              <a:rPr lang="en-US" sz="1500" b="1" dirty="0">
                <a:solidFill>
                  <a:schemeClr val="bg1"/>
                </a:solidFill>
              </a:rPr>
              <a:t>Q. 失注率が下がる根拠は？</a:t>
            </a:r>
            <a:endParaRPr lang="en-US" sz="1500" dirty="0"/>
          </a:p>
        </p:txBody>
      </p:sp>
      <p:sp>
        <p:nvSpPr>
          <p:cNvPr id="9" name="qa-a-2"/>
          <p:cNvSpPr/>
          <p:nvPr/>
        </p:nvSpPr>
        <p:spPr>
          <a:xfrm>
            <a:off x="4251960" y="2304288"/>
            <a:ext cx="7391095" cy="868680"/>
          </a:xfrm>
          <a:prstGeom prst="roundRect">
            <a:avLst>
              <a:gd name="adj" fmla="val 8421"/>
            </a:avLst>
          </a:prstGeom>
          <a:solidFill>
            <a:schemeClr val="bg2"/>
          </a:solidFill>
          <a:ln w="12700">
            <a:solidFill>
              <a:schemeClr val="bg2"/>
            </a:solidFill>
            <a:prstDash val="solid"/>
          </a:ln>
        </p:spPr>
      </p:sp>
      <p:sp>
        <p:nvSpPr>
          <p:cNvPr id="10" name="Text 8"/>
          <p:cNvSpPr txBox="1"/>
          <p:nvPr/>
        </p:nvSpPr>
        <p:spPr>
          <a:xfrm>
            <a:off x="4434840" y="2304288"/>
            <a:ext cx="7025335" cy="868680"/>
          </a:xfrm>
          <a:prstGeom prst="rect">
            <a:avLst/>
          </a:prstGeom>
          <a:noFill/>
          <a:ln/>
        </p:spPr>
        <p:txBody>
          <a:bodyPr wrap="square" lIns="0" tIns="0" rIns="0" bIns="0" rtlCol="0" anchor="ctr"/>
          <a:lstStyle/>
          <a:p>
            <a:pPr marL="0" indent="0">
              <a:buNone/>
            </a:pPr>
            <a:r>
              <a:rPr lang="en-US" sz="1400" dirty="0">
                <a:solidFill>
                  <a:schemeClr val="tx1"/>
                </a:solidFill>
              </a:rPr>
              <a:t>現時点は仮説。提案作成時間・過去事例の引用率・検索ログ（ゼロ件率）・受注率を試行拠点で計測して検証する</a:t>
            </a:r>
            <a:endParaRPr lang="en-US" sz="1400" dirty="0"/>
          </a:p>
        </p:txBody>
      </p:sp>
      <p:sp>
        <p:nvSpPr>
          <p:cNvPr id="11" name="qa-q-3"/>
          <p:cNvSpPr/>
          <p:nvPr/>
        </p:nvSpPr>
        <p:spPr>
          <a:xfrm>
            <a:off x="548640" y="3282696"/>
            <a:ext cx="3566160" cy="868680"/>
          </a:xfrm>
          <a:prstGeom prst="roundRect">
            <a:avLst>
              <a:gd name="adj" fmla="val 8421"/>
            </a:avLst>
          </a:prstGeom>
          <a:solidFill>
            <a:schemeClr val="accent4"/>
          </a:solidFill>
          <a:ln w="12700">
            <a:solidFill>
              <a:schemeClr val="accent4"/>
            </a:solidFill>
            <a:prstDash val="solid"/>
          </a:ln>
        </p:spPr>
      </p:sp>
      <p:sp>
        <p:nvSpPr>
          <p:cNvPr id="12" name="Text 10"/>
          <p:cNvSpPr txBox="1"/>
          <p:nvPr/>
        </p:nvSpPr>
        <p:spPr>
          <a:xfrm>
            <a:off x="731520" y="3282696"/>
            <a:ext cx="3200400" cy="868680"/>
          </a:xfrm>
          <a:prstGeom prst="rect">
            <a:avLst/>
          </a:prstGeom>
          <a:noFill/>
          <a:ln/>
        </p:spPr>
        <p:txBody>
          <a:bodyPr wrap="square" lIns="0" tIns="0" rIns="0" bIns="0" rtlCol="0" anchor="ctr"/>
          <a:lstStyle/>
          <a:p>
            <a:pPr marL="0" indent="0">
              <a:buNone/>
            </a:pPr>
            <a:r>
              <a:rPr lang="en-US" sz="1500" b="1" dirty="0">
                <a:solidFill>
                  <a:schemeClr val="bg1"/>
                </a:solidFill>
              </a:rPr>
              <a:t>Q. 言い換えに弱いのでは？</a:t>
            </a:r>
            <a:endParaRPr lang="en-US" sz="1500" dirty="0"/>
          </a:p>
        </p:txBody>
      </p:sp>
      <p:sp>
        <p:nvSpPr>
          <p:cNvPr id="13" name="qa-a-3"/>
          <p:cNvSpPr/>
          <p:nvPr/>
        </p:nvSpPr>
        <p:spPr>
          <a:xfrm>
            <a:off x="4251960" y="3282696"/>
            <a:ext cx="7391095" cy="868680"/>
          </a:xfrm>
          <a:prstGeom prst="roundRect">
            <a:avLst>
              <a:gd name="adj" fmla="val 8421"/>
            </a:avLst>
          </a:prstGeom>
          <a:solidFill>
            <a:schemeClr val="bg2"/>
          </a:solidFill>
          <a:ln w="12700">
            <a:solidFill>
              <a:schemeClr val="bg2"/>
            </a:solidFill>
            <a:prstDash val="solid"/>
          </a:ln>
        </p:spPr>
      </p:sp>
      <p:sp>
        <p:nvSpPr>
          <p:cNvPr id="14" name="Text 12"/>
          <p:cNvSpPr txBox="1"/>
          <p:nvPr/>
        </p:nvSpPr>
        <p:spPr>
          <a:xfrm>
            <a:off x="4434840" y="3282696"/>
            <a:ext cx="7025335" cy="868680"/>
          </a:xfrm>
          <a:prstGeom prst="rect">
            <a:avLst/>
          </a:prstGeom>
          <a:noFill/>
          <a:ln/>
        </p:spPr>
        <p:txBody>
          <a:bodyPr wrap="square" lIns="0" tIns="0" rIns="0" bIns="0" rtlCol="0" anchor="ctr"/>
          <a:lstStyle/>
          <a:p>
            <a:pPr marL="0" indent="0">
              <a:buNone/>
            </a:pPr>
            <a:r>
              <a:rPr lang="en-US" sz="1400" dirty="0">
                <a:solidFill>
                  <a:schemeClr val="tx1"/>
                </a:solidFill>
              </a:rPr>
              <a:t>弱点と認識している。選択式の項目一致と全文検索で補い、ゼロ件率のログで改善。埋め込み検索は次フェーズ</a:t>
            </a:r>
            <a:endParaRPr lang="en-US" sz="1400" dirty="0"/>
          </a:p>
        </p:txBody>
      </p:sp>
      <p:sp>
        <p:nvSpPr>
          <p:cNvPr id="15" name="qa-q-4"/>
          <p:cNvSpPr/>
          <p:nvPr/>
        </p:nvSpPr>
        <p:spPr>
          <a:xfrm>
            <a:off x="548640" y="4261104"/>
            <a:ext cx="3566160" cy="868680"/>
          </a:xfrm>
          <a:prstGeom prst="roundRect">
            <a:avLst>
              <a:gd name="adj" fmla="val 8421"/>
            </a:avLst>
          </a:prstGeom>
          <a:solidFill>
            <a:schemeClr val="accent4"/>
          </a:solidFill>
          <a:ln w="12700">
            <a:solidFill>
              <a:schemeClr val="accent4"/>
            </a:solidFill>
            <a:prstDash val="solid"/>
          </a:ln>
        </p:spPr>
      </p:sp>
      <p:sp>
        <p:nvSpPr>
          <p:cNvPr id="16" name="Text 14"/>
          <p:cNvSpPr txBox="1"/>
          <p:nvPr/>
        </p:nvSpPr>
        <p:spPr>
          <a:xfrm>
            <a:off x="731520" y="4261104"/>
            <a:ext cx="3200400" cy="868680"/>
          </a:xfrm>
          <a:prstGeom prst="rect">
            <a:avLst/>
          </a:prstGeom>
          <a:noFill/>
          <a:ln/>
        </p:spPr>
        <p:txBody>
          <a:bodyPr wrap="square" lIns="0" tIns="0" rIns="0" bIns="0" rtlCol="0" anchor="ctr"/>
          <a:lstStyle/>
          <a:p>
            <a:pPr marL="0" indent="0">
              <a:buNone/>
            </a:pPr>
            <a:r>
              <a:rPr lang="en-US" sz="1500" b="1" dirty="0">
                <a:solidFill>
                  <a:schemeClr val="bg1"/>
                </a:solidFill>
              </a:rPr>
              <a:t>Q. 補助金・法令の判定は信頼できるか</a:t>
            </a:r>
            <a:endParaRPr lang="en-US" sz="1500" dirty="0"/>
          </a:p>
        </p:txBody>
      </p:sp>
      <p:sp>
        <p:nvSpPr>
          <p:cNvPr id="17" name="qa-a-4"/>
          <p:cNvSpPr/>
          <p:nvPr/>
        </p:nvSpPr>
        <p:spPr>
          <a:xfrm>
            <a:off x="4251960" y="4261104"/>
            <a:ext cx="7391095" cy="868680"/>
          </a:xfrm>
          <a:prstGeom prst="roundRect">
            <a:avLst>
              <a:gd name="adj" fmla="val 8421"/>
            </a:avLst>
          </a:prstGeom>
          <a:solidFill>
            <a:schemeClr val="bg2"/>
          </a:solidFill>
          <a:ln w="12700">
            <a:solidFill>
              <a:schemeClr val="bg2"/>
            </a:solidFill>
            <a:prstDash val="solid"/>
          </a:ln>
        </p:spPr>
      </p:sp>
      <p:sp>
        <p:nvSpPr>
          <p:cNvPr id="18" name="Text 16"/>
          <p:cNvSpPr txBox="1"/>
          <p:nvPr/>
        </p:nvSpPr>
        <p:spPr>
          <a:xfrm>
            <a:off x="4434840" y="4261104"/>
            <a:ext cx="7025335" cy="868680"/>
          </a:xfrm>
          <a:prstGeom prst="rect">
            <a:avLst/>
          </a:prstGeom>
          <a:noFill/>
          <a:ln/>
        </p:spPr>
        <p:txBody>
          <a:bodyPr wrap="square" lIns="0" tIns="0" rIns="0" bIns="0" rtlCol="0" anchor="ctr"/>
          <a:lstStyle/>
          <a:p>
            <a:pPr marL="0" indent="0">
              <a:buNone/>
            </a:pPr>
            <a:r>
              <a:rPr lang="en-US" sz="1400" dirty="0">
                <a:solidFill>
                  <a:schemeClr val="tx1"/>
                </a:solidFill>
              </a:rPr>
              <a:t>候補の提示に徹する。理由・適格性・出典・取得日を表示し、最終確認は公募要領・条文の原文で行う</a:t>
            </a:r>
            <a:endParaRPr lang="en-US" sz="1400" dirty="0"/>
          </a:p>
        </p:txBody>
      </p:sp>
      <p:sp>
        <p:nvSpPr>
          <p:cNvPr id="19" name="qa-q-5"/>
          <p:cNvSpPr/>
          <p:nvPr/>
        </p:nvSpPr>
        <p:spPr>
          <a:xfrm>
            <a:off x="548640" y="5239512"/>
            <a:ext cx="3566160" cy="868680"/>
          </a:xfrm>
          <a:prstGeom prst="roundRect">
            <a:avLst>
              <a:gd name="adj" fmla="val 8421"/>
            </a:avLst>
          </a:prstGeom>
          <a:solidFill>
            <a:schemeClr val="accent4"/>
          </a:solidFill>
          <a:ln w="12700">
            <a:solidFill>
              <a:schemeClr val="accent4"/>
            </a:solidFill>
            <a:prstDash val="solid"/>
          </a:ln>
        </p:spPr>
      </p:sp>
      <p:sp>
        <p:nvSpPr>
          <p:cNvPr id="20" name="Text 18"/>
          <p:cNvSpPr txBox="1"/>
          <p:nvPr/>
        </p:nvSpPr>
        <p:spPr>
          <a:xfrm>
            <a:off x="731520" y="5239512"/>
            <a:ext cx="3200400" cy="868680"/>
          </a:xfrm>
          <a:prstGeom prst="rect">
            <a:avLst/>
          </a:prstGeom>
          <a:noFill/>
          <a:ln/>
        </p:spPr>
        <p:txBody>
          <a:bodyPr wrap="square" lIns="0" tIns="0" rIns="0" bIns="0" rtlCol="0" anchor="ctr"/>
          <a:lstStyle/>
          <a:p>
            <a:pPr marL="0" indent="0">
              <a:buNone/>
            </a:pPr>
            <a:r>
              <a:rPr lang="en-US" sz="1500" b="1" dirty="0">
                <a:solidFill>
                  <a:schemeClr val="bg1"/>
                </a:solidFill>
              </a:rPr>
              <a:t>Q. セキュリティは？</a:t>
            </a:r>
            <a:endParaRPr lang="en-US" sz="1500" dirty="0"/>
          </a:p>
        </p:txBody>
      </p:sp>
      <p:sp>
        <p:nvSpPr>
          <p:cNvPr id="21" name="qa-a-5"/>
          <p:cNvSpPr/>
          <p:nvPr/>
        </p:nvSpPr>
        <p:spPr>
          <a:xfrm>
            <a:off x="4251960" y="5239512"/>
            <a:ext cx="7391095" cy="868680"/>
          </a:xfrm>
          <a:prstGeom prst="roundRect">
            <a:avLst>
              <a:gd name="adj" fmla="val 8421"/>
            </a:avLst>
          </a:prstGeom>
          <a:solidFill>
            <a:schemeClr val="bg2"/>
          </a:solidFill>
          <a:ln w="12700">
            <a:solidFill>
              <a:schemeClr val="bg2"/>
            </a:solidFill>
            <a:prstDash val="solid"/>
          </a:ln>
        </p:spPr>
      </p:sp>
      <p:sp>
        <p:nvSpPr>
          <p:cNvPr id="22" name="Text 20"/>
          <p:cNvSpPr txBox="1"/>
          <p:nvPr/>
        </p:nvSpPr>
        <p:spPr>
          <a:xfrm>
            <a:off x="4434840" y="5239512"/>
            <a:ext cx="7025335" cy="868680"/>
          </a:xfrm>
          <a:prstGeom prst="rect">
            <a:avLst/>
          </a:prstGeom>
          <a:noFill/>
          <a:ln/>
        </p:spPr>
        <p:txBody>
          <a:bodyPr wrap="square" lIns="0" tIns="0" rIns="0" bIns="0" rtlCol="0" anchor="ctr"/>
          <a:lstStyle/>
          <a:p>
            <a:pPr marL="0" indent="0">
              <a:buNone/>
            </a:pPr>
            <a:r>
              <a:rPr lang="en-US" sz="1400" dirty="0">
                <a:solidFill>
                  <a:schemeClr val="tx1"/>
                </a:solidFill>
              </a:rPr>
              <a:t>MVPは認証・権限なしで少人数利用が前提。最終形でSSO・権限別アクセス・閲覧ログ・匿名化を実装する</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TechO Steel">
  <a:themeElements>
    <a:clrScheme name="TechO Steel">
      <a:dk1>
        <a:srgbClr val="1B2A38"/>
      </a:dk1>
      <a:lt1>
        <a:srgbClr val="FFFFFF"/>
      </a:lt1>
      <a:dk2>
        <a:srgbClr val="3A4D5F"/>
      </a:dk2>
      <a:lt2>
        <a:srgbClr val="EEF2F5"/>
      </a:lt2>
      <a:accent1>
        <a:srgbClr val="E8731A"/>
      </a:accent1>
      <a:accent2>
        <a:srgbClr val="2E7D32"/>
      </a:accent2>
      <a:accent3>
        <a:srgbClr val="C62828"/>
      </a:accent3>
      <a:accent4>
        <a:srgbClr val="3F6E8C"/>
      </a:accent4>
      <a:accent5>
        <a:srgbClr val="6F8190"/>
      </a:accent5>
      <a:accent6>
        <a:srgbClr val="F2B134"/>
      </a:accent6>
      <a:hlink>
        <a:srgbClr val="3F6E8C"/>
      </a:hlink>
      <a:folHlink>
        <a:srgbClr val="6F8190"/>
      </a:folHlink>
    </a:clrScheme>
    <a:fontScheme name="TechO Steel">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1241</Words>
  <Application>Microsoft Office PowerPoint</Application>
  <PresentationFormat>ワイド画面</PresentationFormat>
  <Paragraphs>191</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Yu Gothic</vt:lpstr>
      <vt:lpstr>Arial</vt:lpstr>
      <vt:lpstr>TechO Steel</vt:lpstr>
      <vt:lpstr>PowerPoint プレゼンテーション</vt:lpstr>
      <vt:lpstr>市場は伸びているのに、提案の質が下がり失注が増えている</vt:lpstr>
      <vt:lpstr>解決策：過去の蓄積を、提案の場面で使える形にする</vt:lpstr>
      <vt:lpstr>入力 → 処理 → 出力：すべて原文に遡れる</vt:lpstr>
      <vt:lpstr>課題 → 機能 → 技術をつなぐ。AIは「使わない」と判断した</vt:lpstr>
      <vt:lpstr>デモ：新規案件の提案準備を、数分で</vt:lpstr>
      <vt:lpstr>当初案からの変化：変えた4点と、変えなかった核</vt:lpstr>
      <vt:lpstr>期待効果と、本番化に向けた次の一手</vt:lpstr>
      <vt:lpstr>【補足】想定問答：判断の理由をチーム全員が説明できる</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TechO Search 特別監査会 プレゼン</dc:title>
  <dc:subject>PptxGenJS Presentation</dc:subject>
  <dc:creator>PROJECT ZERO</dc:creator>
  <cp:lastModifiedBy>真樹 横尾</cp:lastModifiedBy>
  <cp:revision>2</cp:revision>
  <dcterms:created xsi:type="dcterms:W3CDTF">2026-10-08T11:57:25Z</dcterms:created>
  <dcterms:modified xsi:type="dcterms:W3CDTF">2026-10-08T12:08:38Z</dcterms:modified>
</cp:coreProperties>
</file>